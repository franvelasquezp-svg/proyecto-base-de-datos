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Inter" panose="02000503000000020004" pitchFamily="34"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2A2F"/>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B2A2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B2A2F"/>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B2A2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2F"/>
        </a:solidFill>
      </p:bgPr>
    </p:bg>
    <p:spTree>
      <p:nvGrpSpPr>
        <p:cNvPr id="1" name=""/>
        <p:cNvGrpSpPr/>
        <p:nvPr/>
      </p:nvGrpSpPr>
      <p:grpSpPr>
        <a:xfrm>
          <a:off x="0" y="0"/>
          <a:ext cx="0" cy="0"/>
          <a:chOff x="0" y="0"/>
          <a:chExt cx="0" cy="0"/>
        </a:xfrm>
      </p:grpSpPr>
      <p:sp>
        <p:nvSpPr>
          <p:cNvPr id="2" name="Text 0"/>
          <p:cNvSpPr/>
          <p:nvPr/>
        </p:nvSpPr>
        <p:spPr>
          <a:xfrm>
            <a:off x="812800" y="206629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CAA5"/>
                </a:solidFill>
                <a:latin typeface="Inter" pitchFamily="34" charset="0"/>
                <a:ea typeface="Inter" pitchFamily="34" charset="-122"/>
                <a:cs typeface="Inter" pitchFamily="34" charset="-120"/>
              </a:rPr>
              <a:t>Evaluación Parcial N°2 · BDY1103 Taller de Base de Datos</a:t>
            </a:r>
            <a:endParaRPr lang="en-US" sz="1500" dirty="0"/>
          </a:p>
        </p:txBody>
      </p:sp>
      <p:sp>
        <p:nvSpPr>
          <p:cNvPr id="3" name="Text 1"/>
          <p:cNvSpPr/>
          <p:nvPr>
            <p:ph type="title"/>
          </p:nvPr>
        </p:nvSpPr>
        <p:spPr>
          <a:xfrm>
            <a:off x="812800" y="2536190"/>
            <a:ext cx="10883392" cy="1252220"/>
          </a:xfrm>
          <a:prstGeom prst="rect">
            <a:avLst/>
          </a:prstGeom>
          <a:noFill/>
          <a:ln/>
        </p:spPr>
        <p:txBody>
          <a:bodyPr wrap="square" lIns="0" tIns="0" rIns="0" bIns="0" rtlCol="0" anchor="t">
            <a:normAutofit/>
          </a:bodyPr>
          <a:lstStyle/>
          <a:p>
            <a:pPr algn="l" indent="0" marL="0">
              <a:lnSpc>
                <a:spcPts val="4830"/>
              </a:lnSpc>
              <a:buNone/>
            </a:pPr>
            <a:r>
              <a:rPr lang="en-US" sz="4600" b="1" i="0" dirty="0">
                <a:solidFill>
                  <a:srgbClr val="F5F3EE"/>
                </a:solidFill>
                <a:latin typeface="Inter" pitchFamily="34" charset="0"/>
                <a:ea typeface="Inter" pitchFamily="34" charset="-122"/>
                <a:cs typeface="Inter" pitchFamily="34" charset="-120"/>
              </a:rPr>
              <a:t>Gestión de trabajos en una empresa de mecanizados CNC</a:t>
            </a:r>
            <a:endParaRPr lang="en-US" sz="4600" dirty="0"/>
          </a:p>
        </p:txBody>
      </p:sp>
      <p:sp>
        <p:nvSpPr>
          <p:cNvPr id="4" name="Text 2"/>
          <p:cNvSpPr/>
          <p:nvPr/>
        </p:nvSpPr>
        <p:spPr>
          <a:xfrm>
            <a:off x="812800" y="396621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C9D2D0"/>
                </a:solidFill>
                <a:latin typeface="Inter" pitchFamily="34" charset="0"/>
                <a:ea typeface="Inter" pitchFamily="34" charset="-122"/>
                <a:cs typeface="Inter" pitchFamily="34" charset="-120"/>
              </a:rPr>
              <a:t>Implementación de programas PL/SQL en una base de datos</a:t>
            </a:r>
            <a:endParaRPr lang="en-US" sz="2000" dirty="0"/>
          </a:p>
        </p:txBody>
      </p:sp>
      <p:sp>
        <p:nvSpPr>
          <p:cNvPr id="5" name="Text 3"/>
          <p:cNvSpPr/>
          <p:nvPr/>
        </p:nvSpPr>
        <p:spPr>
          <a:xfrm>
            <a:off x="812800" y="452501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DCAA5"/>
                </a:solidFill>
                <a:latin typeface="Inter" pitchFamily="34" charset="0"/>
                <a:ea typeface="Inter" pitchFamily="34" charset="-122"/>
                <a:cs typeface="Inter" pitchFamily="34" charset="-120"/>
              </a:rPr>
              <a:t>Franconis Velásquez · Sebastián Yajure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El problema: volver a buscar trabajos ya hechos</a:t>
            </a:r>
            <a:endParaRPr lang="en-US" sz="3200" dirty="0"/>
          </a:p>
        </p:txBody>
      </p:sp>
      <p:sp>
        <p:nvSpPr>
          <p:cNvPr id="3" name="Shape 1"/>
          <p:cNvSpPr/>
          <p:nvPr/>
        </p:nvSpPr>
        <p:spPr>
          <a:xfrm>
            <a:off x="812800" y="1513840"/>
            <a:ext cx="5054600" cy="1160780"/>
          </a:xfrm>
          <a:prstGeom prst="roundRect">
            <a:avLst>
              <a:gd name="adj" fmla="val 6565"/>
            </a:avLst>
          </a:prstGeom>
          <a:solidFill>
            <a:srgbClr val="FFFFFF"/>
          </a:solidFill>
          <a:ln/>
        </p:spPr>
      </p:sp>
      <p:sp>
        <p:nvSpPr>
          <p:cNvPr id="4" name="Shape 2"/>
          <p:cNvSpPr/>
          <p:nvPr/>
        </p:nvSpPr>
        <p:spPr>
          <a:xfrm>
            <a:off x="812800" y="1513840"/>
            <a:ext cx="5054600" cy="1160780"/>
          </a:xfrm>
          <a:custGeom>
            <a:avLst/>
            <a:gdLst/>
            <a:ahLst/>
            <a:cxnLst/>
            <a:rect l="l" t="t" r="r" b="b"/>
            <a:pathLst>
              <a:path w="5054600" h="1160780">
                <a:moveTo>
                  <a:pt x="76200" y="1160780"/>
                </a:moveTo>
                <a:lnTo>
                  <a:pt x="76200" y="1160780"/>
                </a:lnTo>
                <a:arcTo hR="76200" wR="76200" stAng="5400000" swAng="5400000"/>
                <a:lnTo>
                  <a:pt x="0" y="76200"/>
                </a:lnTo>
                <a:arcTo hR="76200" wR="76200" stAng="10800000" swAng="5400000"/>
                <a:lnTo>
                  <a:pt x="76200" y="0"/>
                </a:lnTo>
                <a:arcTo hR="76200" wR="25400" stAng="16200000" swAng="-5400000"/>
                <a:lnTo>
                  <a:pt x="50800" y="1084580"/>
                </a:lnTo>
                <a:arcTo hR="76200" wR="25400" stAng="10800000" swAng="-5400000"/>
                <a:close/>
              </a:path>
            </a:pathLst>
          </a:custGeom>
          <a:solidFill>
            <a:srgbClr val="0F6E56"/>
          </a:solidFill>
          <a:ln/>
        </p:spPr>
      </p:sp>
      <p:sp>
        <p:nvSpPr>
          <p:cNvPr id="5" name="Text 3"/>
          <p:cNvSpPr/>
          <p:nvPr/>
        </p:nvSpPr>
        <p:spPr>
          <a:xfrm>
            <a:off x="1066800" y="1691640"/>
            <a:ext cx="473532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6E56"/>
                </a:solidFill>
                <a:latin typeface="Inter" pitchFamily="34" charset="0"/>
                <a:ea typeface="Inter" pitchFamily="34" charset="-122"/>
                <a:cs typeface="Inter" pitchFamily="34" charset="-120"/>
              </a:rPr>
              <a:t>Contexto</a:t>
            </a:r>
            <a:endParaRPr lang="en-US" sz="1700" dirty="0"/>
          </a:p>
        </p:txBody>
      </p:sp>
      <p:sp>
        <p:nvSpPr>
          <p:cNvPr id="6" name="Text 4"/>
          <p:cNvSpPr/>
          <p:nvPr/>
        </p:nvSpPr>
        <p:spPr>
          <a:xfrm>
            <a:off x="1066800" y="2001520"/>
            <a:ext cx="473532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B2A2F"/>
                </a:solidFill>
                <a:latin typeface="Inter" pitchFamily="34" charset="0"/>
                <a:ea typeface="Inter" pitchFamily="34" charset="-122"/>
                <a:cs typeface="Inter" pitchFamily="34" charset="-120"/>
              </a:rPr>
              <a:t>Proyectos por NP que se repiten; cada uno usa un plano y herramientas con stock limitado.</a:t>
            </a:r>
            <a:endParaRPr lang="en-US" sz="1500" dirty="0"/>
          </a:p>
        </p:txBody>
      </p:sp>
      <p:sp>
        <p:nvSpPr>
          <p:cNvPr id="7" name="Shape 5"/>
          <p:cNvSpPr/>
          <p:nvPr/>
        </p:nvSpPr>
        <p:spPr>
          <a:xfrm>
            <a:off x="812800" y="2827020"/>
            <a:ext cx="5054600" cy="1903730"/>
          </a:xfrm>
          <a:prstGeom prst="roundRect">
            <a:avLst>
              <a:gd name="adj" fmla="val 4003"/>
            </a:avLst>
          </a:prstGeom>
          <a:solidFill>
            <a:srgbClr val="FFFFFF"/>
          </a:solidFill>
          <a:ln/>
        </p:spPr>
      </p:sp>
      <p:sp>
        <p:nvSpPr>
          <p:cNvPr id="8" name="Shape 6"/>
          <p:cNvSpPr/>
          <p:nvPr/>
        </p:nvSpPr>
        <p:spPr>
          <a:xfrm>
            <a:off x="812800" y="2827020"/>
            <a:ext cx="5054600" cy="1903730"/>
          </a:xfrm>
          <a:custGeom>
            <a:avLst/>
            <a:gdLst/>
            <a:ahLst/>
            <a:cxnLst/>
            <a:rect l="l" t="t" r="r" b="b"/>
            <a:pathLst>
              <a:path w="5054600" h="1903730">
                <a:moveTo>
                  <a:pt x="76200" y="1903730"/>
                </a:moveTo>
                <a:lnTo>
                  <a:pt x="76200" y="1903730"/>
                </a:lnTo>
                <a:arcTo hR="76200" wR="76200" stAng="5400000" swAng="5400000"/>
                <a:lnTo>
                  <a:pt x="0" y="76200"/>
                </a:lnTo>
                <a:arcTo hR="76200" wR="76200" stAng="10800000" swAng="5400000"/>
                <a:lnTo>
                  <a:pt x="76200" y="0"/>
                </a:lnTo>
                <a:arcTo hR="76200" wR="25400" stAng="16200000" swAng="-5400000"/>
                <a:lnTo>
                  <a:pt x="50800" y="1827530"/>
                </a:lnTo>
                <a:arcTo hR="76200" wR="25400" stAng="10800000" swAng="-5400000"/>
                <a:close/>
              </a:path>
            </a:pathLst>
          </a:custGeom>
          <a:solidFill>
            <a:srgbClr val="B8481A"/>
          </a:solidFill>
          <a:ln/>
        </p:spPr>
      </p:sp>
      <p:sp>
        <p:nvSpPr>
          <p:cNvPr id="9" name="Text 7"/>
          <p:cNvSpPr/>
          <p:nvPr/>
        </p:nvSpPr>
        <p:spPr>
          <a:xfrm>
            <a:off x="1066800" y="3004820"/>
            <a:ext cx="473532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481A"/>
                </a:solidFill>
                <a:latin typeface="Inter" pitchFamily="34" charset="0"/>
                <a:ea typeface="Inter" pitchFamily="34" charset="-122"/>
                <a:cs typeface="Inter" pitchFamily="34" charset="-120"/>
              </a:rPr>
              <a:t>Problema e impacto</a:t>
            </a:r>
            <a:endParaRPr lang="en-US" sz="1700" dirty="0"/>
          </a:p>
        </p:txBody>
      </p:sp>
      <p:sp>
        <p:nvSpPr>
          <p:cNvPr id="10" name="Text 8"/>
          <p:cNvSpPr/>
          <p:nvPr/>
        </p:nvSpPr>
        <p:spPr>
          <a:xfrm>
            <a:off x="1066800" y="3314700"/>
            <a:ext cx="4735322" cy="12636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B2A2F"/>
                </a:solidFill>
                <a:latin typeface="Inter" pitchFamily="34" charset="0"/>
                <a:ea typeface="Inter" pitchFamily="34" charset="-122"/>
                <a:cs typeface="Inter" pitchFamily="34" charset="-120"/>
              </a:rPr>
              <a:t>Al terminar, plano y herramientas no quedan registrados. Cada trabajo repetido obliga a buscarlos de nuevo: se pierde tiempo de preparación y se arriesga elegir mal las herramientas.</a:t>
            </a:r>
            <a:endParaRPr lang="en-US" sz="1500" dirty="0"/>
          </a:p>
        </p:txBody>
      </p:sp>
      <p:sp>
        <p:nvSpPr>
          <p:cNvPr id="11" name="Shape 9"/>
          <p:cNvSpPr/>
          <p:nvPr/>
        </p:nvSpPr>
        <p:spPr>
          <a:xfrm>
            <a:off x="812800" y="4883150"/>
            <a:ext cx="5054600" cy="1160780"/>
          </a:xfrm>
          <a:prstGeom prst="roundRect">
            <a:avLst>
              <a:gd name="adj" fmla="val 6565"/>
            </a:avLst>
          </a:prstGeom>
          <a:solidFill>
            <a:srgbClr val="FFFFFF"/>
          </a:solidFill>
          <a:ln/>
        </p:spPr>
      </p:sp>
      <p:sp>
        <p:nvSpPr>
          <p:cNvPr id="12" name="Shape 10"/>
          <p:cNvSpPr/>
          <p:nvPr/>
        </p:nvSpPr>
        <p:spPr>
          <a:xfrm>
            <a:off x="812800" y="4883150"/>
            <a:ext cx="5054600" cy="1160780"/>
          </a:xfrm>
          <a:custGeom>
            <a:avLst/>
            <a:gdLst/>
            <a:ahLst/>
            <a:cxnLst/>
            <a:rect l="l" t="t" r="r" b="b"/>
            <a:pathLst>
              <a:path w="5054600" h="1160780">
                <a:moveTo>
                  <a:pt x="76200" y="1160780"/>
                </a:moveTo>
                <a:lnTo>
                  <a:pt x="76200" y="1160780"/>
                </a:lnTo>
                <a:arcTo hR="76200" wR="76200" stAng="5400000" swAng="5400000"/>
                <a:lnTo>
                  <a:pt x="0" y="76200"/>
                </a:lnTo>
                <a:arcTo hR="76200" wR="76200" stAng="10800000" swAng="5400000"/>
                <a:lnTo>
                  <a:pt x="76200" y="0"/>
                </a:lnTo>
                <a:arcTo hR="76200" wR="25400" stAng="16200000" swAng="-5400000"/>
                <a:lnTo>
                  <a:pt x="50800" y="1084580"/>
                </a:lnTo>
                <a:arcTo hR="76200" wR="25400" stAng="10800000" swAng="-5400000"/>
                <a:close/>
              </a:path>
            </a:pathLst>
          </a:custGeom>
          <a:solidFill>
            <a:srgbClr val="0F6E56"/>
          </a:solidFill>
          <a:ln/>
        </p:spPr>
      </p:sp>
      <p:sp>
        <p:nvSpPr>
          <p:cNvPr id="13" name="Text 11"/>
          <p:cNvSpPr/>
          <p:nvPr/>
        </p:nvSpPr>
        <p:spPr>
          <a:xfrm>
            <a:off x="1066800" y="5060950"/>
            <a:ext cx="4735322"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6E56"/>
                </a:solidFill>
                <a:latin typeface="Inter" pitchFamily="34" charset="0"/>
                <a:ea typeface="Inter" pitchFamily="34" charset="-122"/>
                <a:cs typeface="Inter" pitchFamily="34" charset="-120"/>
              </a:rPr>
              <a:t>Solución</a:t>
            </a:r>
            <a:endParaRPr lang="en-US" sz="1700" dirty="0"/>
          </a:p>
        </p:txBody>
      </p:sp>
      <p:sp>
        <p:nvSpPr>
          <p:cNvPr id="14" name="Text 12"/>
          <p:cNvSpPr/>
          <p:nvPr/>
        </p:nvSpPr>
        <p:spPr>
          <a:xfrm>
            <a:off x="1066800" y="5370830"/>
            <a:ext cx="4735322"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B2A2F"/>
                </a:solidFill>
                <a:latin typeface="Inter" pitchFamily="34" charset="0"/>
                <a:ea typeface="Inter" pitchFamily="34" charset="-122"/>
                <a:cs typeface="Inter" pitchFamily="34" charset="-120"/>
              </a:rPr>
              <a:t>Registrar el uso al terminar y consultar plano y herramientas por NP.</a:t>
            </a:r>
            <a:endParaRPr lang="en-US" sz="1500" dirty="0"/>
          </a:p>
        </p:txBody>
      </p:sp>
      <p:pic>
        <p:nvPicPr>
          <p:cNvPr id="15" name="Image 0" descr="Captura de Oracle SQL Developer">    </p:cNvPr>
          <p:cNvPicPr>
            <a:picLocks noChangeAspect="1"/>
          </p:cNvPicPr>
          <p:nvPr/>
        </p:nvPicPr>
        <p:blipFill>
          <a:blip r:embed="rId1"/>
          <a:srcRect l="0" r="0" t="64" b="64"/>
          <a:stretch/>
        </p:blipFill>
        <p:spPr>
          <a:xfrm>
            <a:off x="6184900" y="1526540"/>
            <a:ext cx="5181600" cy="2252980"/>
          </a:xfrm>
          <a:prstGeom prst="roundRect">
            <a:avLst>
              <a:gd name="adj" fmla="val 1691"/>
            </a:avLst>
          </a:prstGeom>
        </p:spPr>
      </p:pic>
      <p:sp>
        <p:nvSpPr>
          <p:cNvPr id="16" name="Shape 13"/>
          <p:cNvSpPr/>
          <p:nvPr/>
        </p:nvSpPr>
        <p:spPr>
          <a:xfrm>
            <a:off x="6178550" y="1520190"/>
            <a:ext cx="5194300" cy="2265680"/>
          </a:xfrm>
          <a:prstGeom prst="roundRect">
            <a:avLst>
              <a:gd name="adj" fmla="val 1962"/>
            </a:avLst>
          </a:prstGeom>
          <a:noFill/>
          <a:ln w="12700">
            <a:solidFill>
              <a:srgbClr val="BBBBBB"/>
            </a:solidFill>
            <a:prstDash val="solid"/>
          </a:ln>
        </p:spPr>
      </p:sp>
      <p:sp>
        <p:nvSpPr>
          <p:cNvPr id="17" name="Text 14"/>
          <p:cNvSpPr/>
          <p:nvPr/>
        </p:nvSpPr>
        <p:spPr>
          <a:xfrm>
            <a:off x="6172200" y="3792220"/>
            <a:ext cx="434759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Prueba: búsqueda de un trabajo por su NP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Modelo de datos: entidades y relaciones</a:t>
            </a:r>
            <a:endParaRPr lang="en-US" sz="3200" dirty="0"/>
          </a:p>
        </p:txBody>
      </p:sp>
      <p:sp>
        <p:nvSpPr>
          <p:cNvPr id="3" name="Shape 1"/>
          <p:cNvSpPr/>
          <p:nvPr/>
        </p:nvSpPr>
        <p:spPr>
          <a:xfrm>
            <a:off x="812800" y="1513841"/>
            <a:ext cx="4592955" cy="1109980"/>
          </a:xfrm>
          <a:prstGeom prst="roundRect">
            <a:avLst>
              <a:gd name="adj" fmla="val 6865"/>
            </a:avLst>
          </a:prstGeom>
          <a:solidFill>
            <a:srgbClr val="FFFFFF"/>
          </a:solidFill>
          <a:ln/>
        </p:spPr>
      </p:sp>
      <p:sp>
        <p:nvSpPr>
          <p:cNvPr id="4" name="Shape 2"/>
          <p:cNvSpPr/>
          <p:nvPr/>
        </p:nvSpPr>
        <p:spPr>
          <a:xfrm>
            <a:off x="812800" y="1513841"/>
            <a:ext cx="4592955" cy="1109980"/>
          </a:xfrm>
          <a:custGeom>
            <a:avLst/>
            <a:gdLst/>
            <a:ahLst/>
            <a:cxnLst/>
            <a:rect l="l" t="t" r="r" b="b"/>
            <a:pathLst>
              <a:path w="4592955" h="1109980">
                <a:moveTo>
                  <a:pt x="76200" y="1109980"/>
                </a:moveTo>
                <a:lnTo>
                  <a:pt x="76200" y="1109980"/>
                </a:lnTo>
                <a:arcTo hR="76200" wR="76200" stAng="5400000" swAng="5400000"/>
                <a:lnTo>
                  <a:pt x="0" y="76200"/>
                </a:lnTo>
                <a:arcTo hR="76200" wR="76200" stAng="10800000" swAng="5400000"/>
                <a:lnTo>
                  <a:pt x="76200" y="0"/>
                </a:lnTo>
                <a:arcTo hR="76200" wR="25400" stAng="16200000" swAng="-5400000"/>
                <a:lnTo>
                  <a:pt x="50800" y="1033780"/>
                </a:lnTo>
                <a:arcTo hR="76200" wR="25400" stAng="10800000" swAng="-5400000"/>
                <a:close/>
              </a:path>
            </a:pathLst>
          </a:custGeom>
          <a:solidFill>
            <a:srgbClr val="0F6E56"/>
          </a:solidFill>
          <a:ln/>
        </p:spPr>
      </p:sp>
      <p:sp>
        <p:nvSpPr>
          <p:cNvPr id="5" name="Text 3"/>
          <p:cNvSpPr/>
          <p:nvPr/>
        </p:nvSpPr>
        <p:spPr>
          <a:xfrm>
            <a:off x="1066800" y="1666241"/>
            <a:ext cx="425982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6E56"/>
                </a:solidFill>
                <a:latin typeface="Inter" pitchFamily="34" charset="0"/>
                <a:ea typeface="Inter" pitchFamily="34" charset="-122"/>
                <a:cs typeface="Inter" pitchFamily="34" charset="-120"/>
              </a:rPr>
              <a:t>Entidades principales</a:t>
            </a:r>
            <a:endParaRPr lang="en-US" sz="1700" dirty="0"/>
          </a:p>
        </p:txBody>
      </p:sp>
      <p:sp>
        <p:nvSpPr>
          <p:cNvPr id="6" name="Text 4"/>
          <p:cNvSpPr/>
          <p:nvPr/>
        </p:nvSpPr>
        <p:spPr>
          <a:xfrm>
            <a:off x="1066800" y="1976120"/>
            <a:ext cx="425982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B2A2F"/>
                </a:solidFill>
                <a:latin typeface="Inter" pitchFamily="34" charset="0"/>
                <a:ea typeface="Inter" pitchFamily="34" charset="-122"/>
                <a:cs typeface="Inter" pitchFamily="34" charset="-120"/>
              </a:rPr>
              <a:t>PLANOS, PROYECTOS (por NP), HERRAMIENTAS y USO_HERRAMIENTA.</a:t>
            </a:r>
            <a:endParaRPr lang="en-US" sz="1500" dirty="0"/>
          </a:p>
        </p:txBody>
      </p:sp>
      <p:sp>
        <p:nvSpPr>
          <p:cNvPr id="7" name="Shape 5"/>
          <p:cNvSpPr/>
          <p:nvPr/>
        </p:nvSpPr>
        <p:spPr>
          <a:xfrm>
            <a:off x="812800" y="2750820"/>
            <a:ext cx="4592955" cy="1408430"/>
          </a:xfrm>
          <a:prstGeom prst="roundRect">
            <a:avLst>
              <a:gd name="adj" fmla="val 5410"/>
            </a:avLst>
          </a:prstGeom>
          <a:solidFill>
            <a:srgbClr val="FFFFFF"/>
          </a:solidFill>
          <a:ln/>
        </p:spPr>
      </p:sp>
      <p:sp>
        <p:nvSpPr>
          <p:cNvPr id="8" name="Shape 6"/>
          <p:cNvSpPr/>
          <p:nvPr/>
        </p:nvSpPr>
        <p:spPr>
          <a:xfrm>
            <a:off x="812800" y="2750820"/>
            <a:ext cx="4592955" cy="1408430"/>
          </a:xfrm>
          <a:custGeom>
            <a:avLst/>
            <a:gdLst/>
            <a:ahLst/>
            <a:cxnLst/>
            <a:rect l="l" t="t" r="r" b="b"/>
            <a:pathLst>
              <a:path w="4592955" h="1408430">
                <a:moveTo>
                  <a:pt x="76200" y="1408430"/>
                </a:moveTo>
                <a:lnTo>
                  <a:pt x="76200" y="1408430"/>
                </a:lnTo>
                <a:arcTo hR="76200" wR="76200" stAng="5400000" swAng="5400000"/>
                <a:lnTo>
                  <a:pt x="0" y="76200"/>
                </a:lnTo>
                <a:arcTo hR="76200" wR="76200" stAng="10800000" swAng="5400000"/>
                <a:lnTo>
                  <a:pt x="76200" y="0"/>
                </a:lnTo>
                <a:arcTo hR="76200" wR="25400" stAng="16200000" swAng="-5400000"/>
                <a:lnTo>
                  <a:pt x="50800" y="1332230"/>
                </a:lnTo>
                <a:arcTo hR="76200" wR="25400" stAng="10800000" swAng="-5400000"/>
                <a:close/>
              </a:path>
            </a:pathLst>
          </a:custGeom>
          <a:solidFill>
            <a:srgbClr val="0F6E56"/>
          </a:solidFill>
          <a:ln/>
        </p:spPr>
      </p:sp>
      <p:sp>
        <p:nvSpPr>
          <p:cNvPr id="9" name="Text 7"/>
          <p:cNvSpPr/>
          <p:nvPr/>
        </p:nvSpPr>
        <p:spPr>
          <a:xfrm>
            <a:off x="1066800" y="2903220"/>
            <a:ext cx="425982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0F6E56"/>
                </a:solidFill>
                <a:latin typeface="Inter" pitchFamily="34" charset="0"/>
                <a:ea typeface="Inter" pitchFamily="34" charset="-122"/>
                <a:cs typeface="Inter" pitchFamily="34" charset="-120"/>
              </a:rPr>
              <a:t>Relaciones 1:N</a:t>
            </a:r>
            <a:endParaRPr lang="en-US" sz="1700" dirty="0"/>
          </a:p>
        </p:txBody>
      </p:sp>
      <p:sp>
        <p:nvSpPr>
          <p:cNvPr id="10" name="Text 8"/>
          <p:cNvSpPr/>
          <p:nvPr/>
        </p:nvSpPr>
        <p:spPr>
          <a:xfrm>
            <a:off x="1066800" y="3213100"/>
            <a:ext cx="425982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B2A2F"/>
                </a:solidFill>
                <a:latin typeface="Inter" pitchFamily="34" charset="0"/>
                <a:ea typeface="Inter" pitchFamily="34" charset="-122"/>
                <a:cs typeface="Inter" pitchFamily="34" charset="-120"/>
              </a:rPr>
              <a:t>Un plano tiene varios proyectos.</a:t>
            </a:r>
            <a:endParaRPr lang="en-US" sz="1500" dirty="0"/>
          </a:p>
        </p:txBody>
      </p:sp>
      <p:sp>
        <p:nvSpPr>
          <p:cNvPr id="11" name="Text 9"/>
          <p:cNvSpPr/>
          <p:nvPr/>
        </p:nvSpPr>
        <p:spPr>
          <a:xfrm>
            <a:off x="1066800" y="3511550"/>
            <a:ext cx="425982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B2A2F"/>
                </a:solidFill>
                <a:latin typeface="Inter" pitchFamily="34" charset="0"/>
                <a:ea typeface="Inter" pitchFamily="34" charset="-122"/>
                <a:cs typeface="Inter" pitchFamily="34" charset="-120"/>
              </a:rPr>
              <a:t>Un proyecto y una herramienta aparecen en varios registros de USO_HERRAMIENTA.</a:t>
            </a:r>
            <a:endParaRPr lang="en-US" sz="1500" dirty="0"/>
          </a:p>
        </p:txBody>
      </p:sp>
      <p:sp>
        <p:nvSpPr>
          <p:cNvPr id="12" name="Shape 10"/>
          <p:cNvSpPr/>
          <p:nvPr/>
        </p:nvSpPr>
        <p:spPr>
          <a:xfrm>
            <a:off x="812800" y="4286250"/>
            <a:ext cx="4592955" cy="1109980"/>
          </a:xfrm>
          <a:prstGeom prst="roundRect">
            <a:avLst>
              <a:gd name="adj" fmla="val 6865"/>
            </a:avLst>
          </a:prstGeom>
          <a:solidFill>
            <a:srgbClr val="FFFFFF"/>
          </a:solidFill>
          <a:ln/>
        </p:spPr>
      </p:sp>
      <p:sp>
        <p:nvSpPr>
          <p:cNvPr id="13" name="Shape 11"/>
          <p:cNvSpPr/>
          <p:nvPr/>
        </p:nvSpPr>
        <p:spPr>
          <a:xfrm>
            <a:off x="812800" y="4286250"/>
            <a:ext cx="4592955" cy="1109980"/>
          </a:xfrm>
          <a:custGeom>
            <a:avLst/>
            <a:gdLst/>
            <a:ahLst/>
            <a:cxnLst/>
            <a:rect l="l" t="t" r="r" b="b"/>
            <a:pathLst>
              <a:path w="4592955" h="1109980">
                <a:moveTo>
                  <a:pt x="76200" y="1109980"/>
                </a:moveTo>
                <a:lnTo>
                  <a:pt x="76200" y="1109980"/>
                </a:lnTo>
                <a:arcTo hR="76200" wR="76200" stAng="5400000" swAng="5400000"/>
                <a:lnTo>
                  <a:pt x="0" y="76200"/>
                </a:lnTo>
                <a:arcTo hR="76200" wR="76200" stAng="10800000" swAng="5400000"/>
                <a:lnTo>
                  <a:pt x="76200" y="0"/>
                </a:lnTo>
                <a:arcTo hR="76200" wR="25400" stAng="16200000" swAng="-5400000"/>
                <a:lnTo>
                  <a:pt x="50800" y="1033780"/>
                </a:lnTo>
                <a:arcTo hR="76200" wR="25400" stAng="10800000" swAng="-5400000"/>
                <a:close/>
              </a:path>
            </a:pathLst>
          </a:custGeom>
          <a:solidFill>
            <a:srgbClr val="B8481A"/>
          </a:solidFill>
          <a:ln/>
        </p:spPr>
      </p:sp>
      <p:sp>
        <p:nvSpPr>
          <p:cNvPr id="14" name="Text 12"/>
          <p:cNvSpPr/>
          <p:nvPr/>
        </p:nvSpPr>
        <p:spPr>
          <a:xfrm>
            <a:off x="1066800" y="4438650"/>
            <a:ext cx="425982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8481A"/>
                </a:solidFill>
                <a:latin typeface="Inter" pitchFamily="34" charset="0"/>
                <a:ea typeface="Inter" pitchFamily="34" charset="-122"/>
                <a:cs typeface="Inter" pitchFamily="34" charset="-120"/>
              </a:rPr>
              <a:t>Tablas de apoyo</a:t>
            </a:r>
            <a:endParaRPr lang="en-US" sz="1700" dirty="0"/>
          </a:p>
        </p:txBody>
      </p:sp>
      <p:sp>
        <p:nvSpPr>
          <p:cNvPr id="15" name="Text 13"/>
          <p:cNvSpPr/>
          <p:nvPr/>
        </p:nvSpPr>
        <p:spPr>
          <a:xfrm>
            <a:off x="1066800" y="4748530"/>
            <a:ext cx="425982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1B2A2F"/>
                </a:solidFill>
                <a:latin typeface="Inter" pitchFamily="34" charset="0"/>
                <a:ea typeface="Inter" pitchFamily="34" charset="-122"/>
                <a:cs typeface="Inter" pitchFamily="34" charset="-120"/>
              </a:rPr>
              <a:t>LOG_USO_HERRAMIENTA y ALERTA_STOCK las llenan los triggers.</a:t>
            </a:r>
            <a:endParaRPr lang="en-US" sz="1500" dirty="0"/>
          </a:p>
        </p:txBody>
      </p:sp>
      <p:pic>
        <p:nvPicPr>
          <p:cNvPr id="16" name="Image 0" descr="Diagrama">    </p:cNvPr>
          <p:cNvPicPr>
            <a:picLocks noChangeAspect="1"/>
          </p:cNvPicPr>
          <p:nvPr/>
        </p:nvPicPr>
        <p:blipFill>
          <a:blip r:embed="rId1"/>
          <a:srcRect l="0" r="0" t="14" b="14"/>
          <a:stretch/>
        </p:blipFill>
        <p:spPr>
          <a:xfrm>
            <a:off x="5723255" y="1526541"/>
            <a:ext cx="5643245" cy="4292600"/>
          </a:xfrm>
          <a:prstGeom prst="roundRect">
            <a:avLst>
              <a:gd name="adj" fmla="val 888"/>
            </a:avLst>
          </a:prstGeom>
        </p:spPr>
      </p:pic>
      <p:sp>
        <p:nvSpPr>
          <p:cNvPr id="17" name="Shape 14"/>
          <p:cNvSpPr/>
          <p:nvPr/>
        </p:nvSpPr>
        <p:spPr>
          <a:xfrm>
            <a:off x="5716905" y="1520191"/>
            <a:ext cx="5655945" cy="4305300"/>
          </a:xfrm>
          <a:prstGeom prst="roundRect">
            <a:avLst>
              <a:gd name="adj" fmla="val 1032"/>
            </a:avLst>
          </a:prstGeom>
          <a:noFill/>
          <a:ln w="12700">
            <a:solidFill>
              <a:srgbClr val="D8D4C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Flujos de trabajo del sistema</a:t>
            </a:r>
            <a:endParaRPr lang="en-US" sz="3200" dirty="0"/>
          </a:p>
        </p:txBody>
      </p:sp>
      <p:pic>
        <p:nvPicPr>
          <p:cNvPr id="3" name="Image 0" descr="Diagrama">    </p:cNvPr>
          <p:cNvPicPr>
            <a:picLocks noChangeAspect="1"/>
          </p:cNvPicPr>
          <p:nvPr/>
        </p:nvPicPr>
        <p:blipFill>
          <a:blip r:embed="rId1"/>
          <a:srcRect l="3881" r="3881" t="0" b="0"/>
          <a:stretch/>
        </p:blipFill>
        <p:spPr>
          <a:xfrm>
            <a:off x="310753" y="1500584"/>
            <a:ext cx="4718367" cy="4531916"/>
          </a:xfrm>
          <a:prstGeom prst="roundRect">
            <a:avLst>
              <a:gd name="adj" fmla="val 841"/>
            </a:avLst>
          </a:prstGeom>
        </p:spPr>
      </p:pic>
      <p:sp>
        <p:nvSpPr>
          <p:cNvPr id="4" name="Shape 1"/>
          <p:cNvSpPr/>
          <p:nvPr/>
        </p:nvSpPr>
        <p:spPr>
          <a:xfrm>
            <a:off x="304403" y="1494234"/>
            <a:ext cx="4731067" cy="4544616"/>
          </a:xfrm>
          <a:prstGeom prst="roundRect">
            <a:avLst>
              <a:gd name="adj" fmla="val 978"/>
            </a:avLst>
          </a:prstGeom>
          <a:noFill/>
          <a:ln w="12700">
            <a:solidFill>
              <a:srgbClr val="D8D4C8"/>
            </a:solidFill>
            <a:prstDash val="solid"/>
          </a:ln>
        </p:spPr>
      </p:sp>
      <p:sp>
        <p:nvSpPr>
          <p:cNvPr id="5" name="Text 2"/>
          <p:cNvSpPr/>
          <p:nvPr/>
        </p:nvSpPr>
        <p:spPr>
          <a:xfrm>
            <a:off x="298053" y="6369527"/>
            <a:ext cx="435597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Registro de uso de herramienta</a:t>
            </a:r>
            <a:endParaRPr lang="en-US" sz="1400" dirty="0"/>
          </a:p>
        </p:txBody>
      </p:sp>
      <p:pic>
        <p:nvPicPr>
          <p:cNvPr id="6" name="Image 1" descr="Diagrama">    </p:cNvPr>
          <p:cNvPicPr>
            <a:picLocks noChangeAspect="1"/>
          </p:cNvPicPr>
          <p:nvPr/>
        </p:nvPicPr>
        <p:blipFill>
          <a:blip r:embed="rId2"/>
          <a:srcRect l="3978" r="3978" t="0" b="0"/>
          <a:stretch/>
        </p:blipFill>
        <p:spPr>
          <a:xfrm>
            <a:off x="5356860" y="1500584"/>
            <a:ext cx="6009640" cy="4531916"/>
          </a:xfrm>
          <a:prstGeom prst="roundRect">
            <a:avLst>
              <a:gd name="adj" fmla="val 841"/>
            </a:avLst>
          </a:prstGeom>
        </p:spPr>
      </p:pic>
      <p:sp>
        <p:nvSpPr>
          <p:cNvPr id="7" name="Shape 3"/>
          <p:cNvSpPr/>
          <p:nvPr/>
        </p:nvSpPr>
        <p:spPr>
          <a:xfrm>
            <a:off x="5350510" y="1494234"/>
            <a:ext cx="6022340" cy="4544616"/>
          </a:xfrm>
          <a:prstGeom prst="roundRect">
            <a:avLst>
              <a:gd name="adj" fmla="val 978"/>
            </a:avLst>
          </a:prstGeom>
          <a:noFill/>
          <a:ln w="12700">
            <a:solidFill>
              <a:srgbClr val="D8D4C8"/>
            </a:solidFill>
            <a:prstDash val="solid"/>
          </a:ln>
        </p:spPr>
      </p:sp>
      <p:sp>
        <p:nvSpPr>
          <p:cNvPr id="8" name="Text 4"/>
          <p:cNvSpPr/>
          <p:nvPr/>
        </p:nvSpPr>
        <p:spPr>
          <a:xfrm>
            <a:off x="5346700" y="6369605"/>
            <a:ext cx="555288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Consulta de un trabajo por NP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Procedimientos y funciones: lógica reutilizable</a:t>
            </a:r>
            <a:endParaRPr lang="en-US" sz="3200" dirty="0"/>
          </a:p>
        </p:txBody>
      </p:sp>
      <p:sp>
        <p:nvSpPr>
          <p:cNvPr id="3" name="Shape 1"/>
          <p:cNvSpPr/>
          <p:nvPr/>
        </p:nvSpPr>
        <p:spPr>
          <a:xfrm>
            <a:off x="812800" y="1511300"/>
            <a:ext cx="5435600" cy="1424940"/>
          </a:xfrm>
          <a:prstGeom prst="roundRect">
            <a:avLst>
              <a:gd name="adj" fmla="val 5348"/>
            </a:avLst>
          </a:prstGeom>
          <a:solidFill>
            <a:srgbClr val="FFFFFF"/>
          </a:solidFill>
          <a:ln/>
        </p:spPr>
      </p:sp>
      <p:sp>
        <p:nvSpPr>
          <p:cNvPr id="4" name="Shape 2"/>
          <p:cNvSpPr/>
          <p:nvPr/>
        </p:nvSpPr>
        <p:spPr>
          <a:xfrm>
            <a:off x="812800" y="1511300"/>
            <a:ext cx="5435600" cy="1424940"/>
          </a:xfrm>
          <a:custGeom>
            <a:avLst/>
            <a:gdLst/>
            <a:ahLst/>
            <a:cxnLst/>
            <a:rect l="l" t="t" r="r" b="b"/>
            <a:pathLst>
              <a:path w="5435600" h="1424940">
                <a:moveTo>
                  <a:pt x="76200" y="1424940"/>
                </a:moveTo>
                <a:lnTo>
                  <a:pt x="76200" y="1424940"/>
                </a:lnTo>
                <a:arcTo hR="76200" wR="76200" stAng="5400000" swAng="5400000"/>
                <a:lnTo>
                  <a:pt x="0" y="76200"/>
                </a:lnTo>
                <a:arcTo hR="76200" wR="76200" stAng="10800000" swAng="5400000"/>
                <a:lnTo>
                  <a:pt x="76200" y="0"/>
                </a:lnTo>
                <a:arcTo hR="76200" wR="25400" stAng="16200000" swAng="-5400000"/>
                <a:lnTo>
                  <a:pt x="50800" y="1348740"/>
                </a:lnTo>
                <a:arcTo hR="76200" wR="25400" stAng="10800000" swAng="-5400000"/>
                <a:close/>
              </a:path>
            </a:pathLst>
          </a:custGeom>
          <a:solidFill>
            <a:srgbClr val="0F6E56"/>
          </a:solidFill>
          <a:ln/>
        </p:spPr>
      </p:sp>
      <p:sp>
        <p:nvSpPr>
          <p:cNvPr id="5" name="Text 3"/>
          <p:cNvSpPr/>
          <p:nvPr/>
        </p:nvSpPr>
        <p:spPr>
          <a:xfrm>
            <a:off x="1041400" y="1638300"/>
            <a:ext cx="518007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6E56"/>
                </a:solidFill>
                <a:latin typeface="Inter" pitchFamily="34" charset="0"/>
                <a:ea typeface="Inter" pitchFamily="34" charset="-122"/>
                <a:cs typeface="Inter" pitchFamily="34" charset="-120"/>
              </a:rPr>
              <a:t>Procedimientos</a:t>
            </a:r>
            <a:endParaRPr lang="en-US" sz="1600" dirty="0"/>
          </a:p>
        </p:txBody>
      </p:sp>
      <p:sp>
        <p:nvSpPr>
          <p:cNvPr id="6" name="Text 4"/>
          <p:cNvSpPr/>
          <p:nvPr/>
        </p:nvSpPr>
        <p:spPr>
          <a:xfrm>
            <a:off x="1041400" y="1932939"/>
            <a:ext cx="5180076"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sp_registrar_uso_herramienta y sp_buscar_trabajo (con parámetros).</a:t>
            </a:r>
            <a:endParaRPr lang="en-US" sz="1300" dirty="0"/>
          </a:p>
        </p:txBody>
      </p:sp>
      <p:sp>
        <p:nvSpPr>
          <p:cNvPr id="7" name="Text 5"/>
          <p:cNvSpPr/>
          <p:nvPr/>
        </p:nvSpPr>
        <p:spPr>
          <a:xfrm>
            <a:off x="1041400" y="2396489"/>
            <a:ext cx="5180076"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sp_reporte_stock_critico y sp_reponer_stock_critico (sin parámetros, masivos).</a:t>
            </a:r>
            <a:endParaRPr lang="en-US" sz="1300" dirty="0"/>
          </a:p>
        </p:txBody>
      </p:sp>
      <p:sp>
        <p:nvSpPr>
          <p:cNvPr id="8" name="Shape 6"/>
          <p:cNvSpPr/>
          <p:nvPr/>
        </p:nvSpPr>
        <p:spPr>
          <a:xfrm>
            <a:off x="812800" y="3050539"/>
            <a:ext cx="5435600" cy="1269365"/>
          </a:xfrm>
          <a:prstGeom prst="roundRect">
            <a:avLst>
              <a:gd name="adj" fmla="val 6003"/>
            </a:avLst>
          </a:prstGeom>
          <a:solidFill>
            <a:srgbClr val="FFFFFF"/>
          </a:solidFill>
          <a:ln/>
        </p:spPr>
      </p:sp>
      <p:sp>
        <p:nvSpPr>
          <p:cNvPr id="9" name="Shape 7"/>
          <p:cNvSpPr/>
          <p:nvPr/>
        </p:nvSpPr>
        <p:spPr>
          <a:xfrm>
            <a:off x="812800" y="3050539"/>
            <a:ext cx="5435600" cy="1269365"/>
          </a:xfrm>
          <a:custGeom>
            <a:avLst/>
            <a:gdLst/>
            <a:ahLst/>
            <a:cxnLst/>
            <a:rect l="l" t="t" r="r" b="b"/>
            <a:pathLst>
              <a:path w="5435600" h="1269365">
                <a:moveTo>
                  <a:pt x="76200" y="1269365"/>
                </a:moveTo>
                <a:lnTo>
                  <a:pt x="76200" y="1269365"/>
                </a:lnTo>
                <a:arcTo hR="76200" wR="76200" stAng="5400000" swAng="5400000"/>
                <a:lnTo>
                  <a:pt x="0" y="76200"/>
                </a:lnTo>
                <a:arcTo hR="76200" wR="76200" stAng="10800000" swAng="5400000"/>
                <a:lnTo>
                  <a:pt x="76200" y="0"/>
                </a:lnTo>
                <a:arcTo hR="76200" wR="25400" stAng="16200000" swAng="-5400000"/>
                <a:lnTo>
                  <a:pt x="50800" y="1193165"/>
                </a:lnTo>
                <a:arcTo hR="76200" wR="25400" stAng="10800000" swAng="-5400000"/>
                <a:close/>
              </a:path>
            </a:pathLst>
          </a:custGeom>
          <a:solidFill>
            <a:srgbClr val="B8481A"/>
          </a:solidFill>
          <a:ln/>
        </p:spPr>
      </p:sp>
      <p:sp>
        <p:nvSpPr>
          <p:cNvPr id="10" name="Text 8"/>
          <p:cNvSpPr/>
          <p:nvPr/>
        </p:nvSpPr>
        <p:spPr>
          <a:xfrm>
            <a:off x="1041400" y="3177539"/>
            <a:ext cx="5180076"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8481A"/>
                </a:solidFill>
                <a:latin typeface="Inter" pitchFamily="34" charset="0"/>
                <a:ea typeface="Inter" pitchFamily="34" charset="-122"/>
                <a:cs typeface="Inter" pitchFamily="34" charset="-120"/>
              </a:rPr>
              <a:t>Funciones</a:t>
            </a:r>
            <a:endParaRPr lang="en-US" sz="1600" dirty="0"/>
          </a:p>
        </p:txBody>
      </p:sp>
      <p:sp>
        <p:nvSpPr>
          <p:cNvPr id="11" name="Text 9"/>
          <p:cNvSpPr/>
          <p:nvPr/>
        </p:nvSpPr>
        <p:spPr>
          <a:xfrm>
            <a:off x="1041400" y="3472182"/>
            <a:ext cx="5180076"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fn_stock_disponible (con parámetro).</a:t>
            </a:r>
            <a:endParaRPr lang="en-US" sz="1300" dirty="0"/>
          </a:p>
        </p:txBody>
      </p:sp>
      <p:sp>
        <p:nvSpPr>
          <p:cNvPr id="12" name="Text 10"/>
          <p:cNvSpPr/>
          <p:nvPr/>
        </p:nvSpPr>
        <p:spPr>
          <a:xfrm>
            <a:off x="1041400" y="3729357"/>
            <a:ext cx="5180076"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fn_total_herramientas_criticas (sin parámetros).</a:t>
            </a:r>
            <a:endParaRPr lang="en-US" sz="1300" dirty="0"/>
          </a:p>
        </p:txBody>
      </p:sp>
      <p:sp>
        <p:nvSpPr>
          <p:cNvPr id="13" name="Text 11"/>
          <p:cNvSpPr/>
          <p:nvPr/>
        </p:nvSpPr>
        <p:spPr>
          <a:xfrm>
            <a:off x="1041400" y="3986532"/>
            <a:ext cx="5180076"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fn_cantidad_usada_np (con parámetro, independiente).</a:t>
            </a:r>
            <a:endParaRPr lang="en-US" sz="1300" dirty="0"/>
          </a:p>
        </p:txBody>
      </p:sp>
      <p:sp>
        <p:nvSpPr>
          <p:cNvPr id="14" name="Shape 12"/>
          <p:cNvSpPr/>
          <p:nvPr/>
        </p:nvSpPr>
        <p:spPr>
          <a:xfrm>
            <a:off x="812800" y="4434207"/>
            <a:ext cx="5435600" cy="1218565"/>
          </a:xfrm>
          <a:prstGeom prst="roundRect">
            <a:avLst>
              <a:gd name="adj" fmla="val 6253"/>
            </a:avLst>
          </a:prstGeom>
          <a:solidFill>
            <a:srgbClr val="FFFFFF"/>
          </a:solidFill>
          <a:ln/>
        </p:spPr>
      </p:sp>
      <p:sp>
        <p:nvSpPr>
          <p:cNvPr id="15" name="Shape 13"/>
          <p:cNvSpPr/>
          <p:nvPr/>
        </p:nvSpPr>
        <p:spPr>
          <a:xfrm>
            <a:off x="812800" y="4434207"/>
            <a:ext cx="5435600" cy="1218565"/>
          </a:xfrm>
          <a:custGeom>
            <a:avLst/>
            <a:gdLst/>
            <a:ahLst/>
            <a:cxnLst/>
            <a:rect l="l" t="t" r="r" b="b"/>
            <a:pathLst>
              <a:path w="5435600" h="1218565">
                <a:moveTo>
                  <a:pt x="76200" y="1218565"/>
                </a:moveTo>
                <a:lnTo>
                  <a:pt x="76200" y="1218565"/>
                </a:lnTo>
                <a:arcTo hR="76200" wR="76200" stAng="5400000" swAng="5400000"/>
                <a:lnTo>
                  <a:pt x="0" y="76200"/>
                </a:lnTo>
                <a:arcTo hR="76200" wR="76200" stAng="10800000" swAng="5400000"/>
                <a:lnTo>
                  <a:pt x="76200" y="0"/>
                </a:lnTo>
                <a:arcTo hR="76200" wR="25400" stAng="16200000" swAng="-5400000"/>
                <a:lnTo>
                  <a:pt x="50800" y="1142365"/>
                </a:lnTo>
                <a:arcTo hR="76200" wR="25400" stAng="10800000" swAng="-5400000"/>
                <a:close/>
              </a:path>
            </a:pathLst>
          </a:custGeom>
          <a:solidFill>
            <a:srgbClr val="0F6E56"/>
          </a:solidFill>
          <a:ln/>
        </p:spPr>
      </p:sp>
      <p:sp>
        <p:nvSpPr>
          <p:cNvPr id="16" name="Text 14"/>
          <p:cNvSpPr/>
          <p:nvPr/>
        </p:nvSpPr>
        <p:spPr>
          <a:xfrm>
            <a:off x="1066800" y="4586607"/>
            <a:ext cx="512775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6E56"/>
                </a:solidFill>
                <a:latin typeface="Inter" pitchFamily="34" charset="0"/>
                <a:ea typeface="Inter" pitchFamily="34" charset="-122"/>
                <a:cs typeface="Inter" pitchFamily="34" charset="-120"/>
              </a:rPr>
              <a:t>¿Por qué?</a:t>
            </a:r>
            <a:endParaRPr lang="en-US" sz="1600" dirty="0"/>
          </a:p>
        </p:txBody>
      </p:sp>
      <p:sp>
        <p:nvSpPr>
          <p:cNvPr id="17" name="Text 15"/>
          <p:cNvSpPr/>
          <p:nvPr/>
        </p:nvSpPr>
        <p:spPr>
          <a:xfrm>
            <a:off x="1066800" y="4881246"/>
            <a:ext cx="5127752" cy="64452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Los procedimientos ejecutan procesos y modifican datos. Las funciones devuelven un valor y se usan dentro de un SELECT, sin repetir la consulta.</a:t>
            </a:r>
            <a:endParaRPr lang="en-US" sz="1300" dirty="0"/>
          </a:p>
        </p:txBody>
      </p:sp>
      <p:pic>
        <p:nvPicPr>
          <p:cNvPr id="18" name="Image 0" descr="Captura de Oracle SQL Developer">    </p:cNvPr>
          <p:cNvPicPr>
            <a:picLocks noChangeAspect="1"/>
          </p:cNvPicPr>
          <p:nvPr/>
        </p:nvPicPr>
        <p:blipFill>
          <a:blip r:embed="rId1"/>
          <a:srcRect l="348" r="348" t="0" b="0"/>
          <a:stretch/>
        </p:blipFill>
        <p:spPr>
          <a:xfrm>
            <a:off x="6565900" y="1524000"/>
            <a:ext cx="4800600" cy="3232150"/>
          </a:xfrm>
          <a:prstGeom prst="roundRect">
            <a:avLst>
              <a:gd name="adj" fmla="val 1179"/>
            </a:avLst>
          </a:prstGeom>
        </p:spPr>
      </p:pic>
      <p:sp>
        <p:nvSpPr>
          <p:cNvPr id="19" name="Shape 16"/>
          <p:cNvSpPr/>
          <p:nvPr/>
        </p:nvSpPr>
        <p:spPr>
          <a:xfrm>
            <a:off x="6559550" y="1517650"/>
            <a:ext cx="4813300" cy="3244850"/>
          </a:xfrm>
          <a:prstGeom prst="roundRect">
            <a:avLst>
              <a:gd name="adj" fmla="val 1370"/>
            </a:avLst>
          </a:prstGeom>
          <a:noFill/>
          <a:ln w="12700">
            <a:solidFill>
              <a:srgbClr val="BBBBBB"/>
            </a:solidFill>
            <a:prstDash val="solid"/>
          </a:ln>
        </p:spPr>
      </p:sp>
      <p:sp>
        <p:nvSpPr>
          <p:cNvPr id="20" name="Text 17"/>
          <p:cNvSpPr/>
          <p:nvPr/>
        </p:nvSpPr>
        <p:spPr>
          <a:xfrm>
            <a:off x="6576537" y="5408932"/>
            <a:ext cx="531876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Prueba: las funciones se usan dentro de un SELECT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Funciones: con y sin parámetros</a:t>
            </a:r>
            <a:endParaRPr lang="en-US" sz="3200" dirty="0"/>
          </a:p>
        </p:txBody>
      </p:sp>
      <p:sp>
        <p:nvSpPr>
          <p:cNvPr id="3" name="Text 1"/>
          <p:cNvSpPr/>
          <p:nvPr/>
        </p:nvSpPr>
        <p:spPr>
          <a:xfrm>
            <a:off x="812800" y="1463039"/>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6E56"/>
                </a:solidFill>
                <a:latin typeface="Inter" pitchFamily="34" charset="0"/>
                <a:ea typeface="Inter" pitchFamily="34" charset="-122"/>
                <a:cs typeface="Inter" pitchFamily="34" charset="-120"/>
              </a:rPr>
              <a:t>Con parámetro</a:t>
            </a:r>
            <a:endParaRPr lang="en-US" sz="1500" dirty="0"/>
          </a:p>
        </p:txBody>
      </p:sp>
      <p:sp>
        <p:nvSpPr>
          <p:cNvPr id="4" name="Text 2"/>
          <p:cNvSpPr/>
          <p:nvPr/>
        </p:nvSpPr>
        <p:spPr>
          <a:xfrm>
            <a:off x="812800" y="1805939"/>
            <a:ext cx="5156200" cy="2867977"/>
          </a:xfrm>
          <a:prstGeom prst="roundRect">
            <a:avLst>
              <a:gd name="adj" fmla="val 2657"/>
            </a:avLst>
          </a:prstGeom>
          <a:solidFill>
            <a:srgbClr val="1B2A2F"/>
          </a:solidFill>
          <a:ln/>
        </p:spPr>
        <p:txBody>
          <a:bodyPr wrap="square" lIns="155482" tIns="130082" rIns="11464" bIns="104682" rtlCol="0" anchor="t">
            <a:normAutofit/>
          </a:bodyPr>
          <a:lstStyle/>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FUNCTION fn_stock_disponible(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p_id_herramienta IN NUMBER)</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RETURN NUMBER IS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v_stock NUMBER;</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BEGIN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SELECT stock_actual INTO v_stock</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FROM   herramientas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WHERE  id_herramienta = p_id_herramienta;</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RETURN v_stock;</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EXCEPTION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WHEN NO_DATA_FOUND THEN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RAISE_APPLICATION_ERROR(-20002, ...);</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END;</a:t>
            </a:r>
            <a:endParaRPr lang="en-US" sz="1150" dirty="0"/>
          </a:p>
        </p:txBody>
      </p:sp>
      <p:sp>
        <p:nvSpPr>
          <p:cNvPr id="5" name="Text 3"/>
          <p:cNvSpPr/>
          <p:nvPr/>
        </p:nvSpPr>
        <p:spPr>
          <a:xfrm>
            <a:off x="6223000" y="1463039"/>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6E56"/>
                </a:solidFill>
                <a:latin typeface="Inter" pitchFamily="34" charset="0"/>
                <a:ea typeface="Inter" pitchFamily="34" charset="-122"/>
                <a:cs typeface="Inter" pitchFamily="34" charset="-120"/>
              </a:rPr>
              <a:t>Sin parámetros</a:t>
            </a:r>
            <a:endParaRPr lang="en-US" sz="1500" dirty="0"/>
          </a:p>
        </p:txBody>
      </p:sp>
      <p:sp>
        <p:nvSpPr>
          <p:cNvPr id="6" name="Text 4"/>
          <p:cNvSpPr/>
          <p:nvPr/>
        </p:nvSpPr>
        <p:spPr>
          <a:xfrm>
            <a:off x="6223000" y="1805939"/>
            <a:ext cx="5156200" cy="3065145"/>
          </a:xfrm>
          <a:prstGeom prst="roundRect">
            <a:avLst>
              <a:gd name="adj" fmla="val 2486"/>
            </a:avLst>
          </a:prstGeom>
          <a:solidFill>
            <a:srgbClr val="1B2A2F"/>
          </a:solidFill>
          <a:ln/>
        </p:spPr>
        <p:txBody>
          <a:bodyPr wrap="square" lIns="155482" tIns="130082" rIns="11464" bIns="104682" rtlCol="0" anchor="t">
            <a:normAutofit/>
          </a:bodyPr>
          <a:lstStyle/>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FUNCTION fn_total_herramientas_criticas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RETURN NUMBER IS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v_total NUMBER;</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BEGIN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SELECT COUNT(*) INTO v_total</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FROM   herramientas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WHERE  stock_actual &lt;= stock_minimo;</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RETURN v_total;</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END;</a:t>
            </a:r>
            <a:endParaRPr lang="en-US" sz="1150" dirty="0"/>
          </a:p>
          <a:p>
            <a:pPr algn="l" indent="0" marL="0">
              <a:lnSpc>
                <a:spcPts val="1553"/>
              </a:lnSpc>
              <a:buNone/>
            </a:pP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Uso desde SQL:</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SELECT pkg_gestion_cnc.</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fn_total_herramientas_criticas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FROM   dual;</a:t>
            </a:r>
            <a:endParaRPr lang="en-US" sz="1150" dirty="0"/>
          </a:p>
        </p:txBody>
      </p:sp>
      <p:sp>
        <p:nvSpPr>
          <p:cNvPr id="7" name="Text 5"/>
          <p:cNvSpPr/>
          <p:nvPr/>
        </p:nvSpPr>
        <p:spPr>
          <a:xfrm>
            <a:off x="812800" y="5074286"/>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Se usan en otros programas PL/SQL (sp_registrar_uso_herramienta llama a fn_stock_disponible) y en sentencias SQL (SELECT). Código resumido; el completo está en el Anexo B del informe.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Package pkg_gestion_cnc: toda la lógica en un solo lugar</a:t>
            </a:r>
            <a:endParaRPr lang="en-US" sz="3200" dirty="0"/>
          </a:p>
        </p:txBody>
      </p:sp>
      <p:sp>
        <p:nvSpPr>
          <p:cNvPr id="3" name="Shape 1"/>
          <p:cNvSpPr/>
          <p:nvPr/>
        </p:nvSpPr>
        <p:spPr>
          <a:xfrm>
            <a:off x="812800" y="1960882"/>
            <a:ext cx="5345430" cy="1167765"/>
          </a:xfrm>
          <a:prstGeom prst="roundRect">
            <a:avLst>
              <a:gd name="adj" fmla="val 6525"/>
            </a:avLst>
          </a:prstGeom>
          <a:solidFill>
            <a:srgbClr val="FFFFFF"/>
          </a:solidFill>
          <a:ln/>
        </p:spPr>
      </p:sp>
      <p:sp>
        <p:nvSpPr>
          <p:cNvPr id="4" name="Shape 2"/>
          <p:cNvSpPr/>
          <p:nvPr/>
        </p:nvSpPr>
        <p:spPr>
          <a:xfrm>
            <a:off x="812800" y="1960882"/>
            <a:ext cx="5345430" cy="1167765"/>
          </a:xfrm>
          <a:custGeom>
            <a:avLst/>
            <a:gdLst/>
            <a:ahLst/>
            <a:cxnLst/>
            <a:rect l="l" t="t" r="r" b="b"/>
            <a:pathLst>
              <a:path w="5345430" h="1167765">
                <a:moveTo>
                  <a:pt x="76200" y="1167765"/>
                </a:moveTo>
                <a:lnTo>
                  <a:pt x="76200" y="1167765"/>
                </a:lnTo>
                <a:arcTo hR="76200" wR="76200" stAng="5400000" swAng="5400000"/>
                <a:lnTo>
                  <a:pt x="0" y="76200"/>
                </a:lnTo>
                <a:arcTo hR="76200" wR="76200" stAng="10800000" swAng="5400000"/>
                <a:lnTo>
                  <a:pt x="76200" y="0"/>
                </a:lnTo>
                <a:arcTo hR="76200" wR="25400" stAng="16200000" swAng="-5400000"/>
                <a:lnTo>
                  <a:pt x="50800" y="1091565"/>
                </a:lnTo>
                <a:arcTo hR="76200" wR="25400" stAng="10800000" swAng="-5400000"/>
                <a:close/>
              </a:path>
            </a:pathLst>
          </a:custGeom>
          <a:solidFill>
            <a:srgbClr val="0F6E56"/>
          </a:solidFill>
          <a:ln/>
        </p:spPr>
      </p:sp>
      <p:sp>
        <p:nvSpPr>
          <p:cNvPr id="5" name="Text 3"/>
          <p:cNvSpPr/>
          <p:nvPr/>
        </p:nvSpPr>
        <p:spPr>
          <a:xfrm>
            <a:off x="1041400" y="2087882"/>
            <a:ext cx="508720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6E56"/>
                </a:solidFill>
                <a:latin typeface="Inter" pitchFamily="34" charset="0"/>
                <a:ea typeface="Inter" pitchFamily="34" charset="-122"/>
                <a:cs typeface="Inter" pitchFamily="34" charset="-120"/>
              </a:rPr>
              <a:t>Público (especificación)</a:t>
            </a:r>
            <a:endParaRPr lang="en-US" sz="1600" dirty="0"/>
          </a:p>
        </p:txBody>
      </p:sp>
      <p:sp>
        <p:nvSpPr>
          <p:cNvPr id="6" name="Text 4"/>
          <p:cNvSpPr/>
          <p:nvPr/>
        </p:nvSpPr>
        <p:spPr>
          <a:xfrm>
            <a:off x="1041400" y="2382521"/>
            <a:ext cx="5087201" cy="64452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sp_registrar_uso_herramienta, sp_buscar_trabajo, sp_reporte_stock_critico, fn_stock_disponible, fn_total_herramientas_criticas</a:t>
            </a:r>
            <a:endParaRPr lang="en-US" sz="1300" dirty="0"/>
          </a:p>
        </p:txBody>
      </p:sp>
      <p:sp>
        <p:nvSpPr>
          <p:cNvPr id="7" name="Shape 5"/>
          <p:cNvSpPr/>
          <p:nvPr/>
        </p:nvSpPr>
        <p:spPr>
          <a:xfrm>
            <a:off x="812800" y="3242946"/>
            <a:ext cx="5345430" cy="961390"/>
          </a:xfrm>
          <a:prstGeom prst="roundRect">
            <a:avLst>
              <a:gd name="adj" fmla="val 7926"/>
            </a:avLst>
          </a:prstGeom>
          <a:solidFill>
            <a:srgbClr val="FFFFFF"/>
          </a:solidFill>
          <a:ln/>
        </p:spPr>
      </p:sp>
      <p:sp>
        <p:nvSpPr>
          <p:cNvPr id="8" name="Shape 6"/>
          <p:cNvSpPr/>
          <p:nvPr/>
        </p:nvSpPr>
        <p:spPr>
          <a:xfrm>
            <a:off x="812800" y="3242946"/>
            <a:ext cx="5345430" cy="961390"/>
          </a:xfrm>
          <a:custGeom>
            <a:avLst/>
            <a:gdLst/>
            <a:ahLst/>
            <a:cxnLst/>
            <a:rect l="l" t="t" r="r" b="b"/>
            <a:pathLst>
              <a:path w="5345430" h="961390">
                <a:moveTo>
                  <a:pt x="76200" y="961390"/>
                </a:moveTo>
                <a:lnTo>
                  <a:pt x="76200" y="961390"/>
                </a:lnTo>
                <a:arcTo hR="76200" wR="76200" stAng="5400000" swAng="5400000"/>
                <a:lnTo>
                  <a:pt x="0" y="76200"/>
                </a:lnTo>
                <a:arcTo hR="76200" wR="76200" stAng="10800000" swAng="5400000"/>
                <a:lnTo>
                  <a:pt x="76200" y="0"/>
                </a:lnTo>
                <a:arcTo hR="76200" wR="25400" stAng="16200000" swAng="-5400000"/>
                <a:lnTo>
                  <a:pt x="50800" y="885190"/>
                </a:lnTo>
                <a:arcTo hR="76200" wR="25400" stAng="10800000" swAng="-5400000"/>
                <a:close/>
              </a:path>
            </a:pathLst>
          </a:custGeom>
          <a:solidFill>
            <a:srgbClr val="B8481A"/>
          </a:solidFill>
          <a:ln/>
        </p:spPr>
      </p:sp>
      <p:sp>
        <p:nvSpPr>
          <p:cNvPr id="9" name="Text 7"/>
          <p:cNvSpPr/>
          <p:nvPr/>
        </p:nvSpPr>
        <p:spPr>
          <a:xfrm>
            <a:off x="1041400" y="3369946"/>
            <a:ext cx="508720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8481A"/>
                </a:solidFill>
                <a:latin typeface="Inter" pitchFamily="34" charset="0"/>
                <a:ea typeface="Inter" pitchFamily="34" charset="-122"/>
                <a:cs typeface="Inter" pitchFamily="34" charset="-120"/>
              </a:rPr>
              <a:t>Privado (cuerpo)</a:t>
            </a:r>
            <a:endParaRPr lang="en-US" sz="1600" dirty="0"/>
          </a:p>
        </p:txBody>
      </p:sp>
      <p:sp>
        <p:nvSpPr>
          <p:cNvPr id="10" name="Text 8"/>
          <p:cNvSpPr/>
          <p:nvPr/>
        </p:nvSpPr>
        <p:spPr>
          <a:xfrm>
            <a:off x="1041400" y="3664586"/>
            <a:ext cx="5087201"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e_stock_insuficiente, g_fecha_carga, fn_existe_proyecto, pr_linea</a:t>
            </a:r>
            <a:endParaRPr lang="en-US" sz="1300" dirty="0"/>
          </a:p>
        </p:txBody>
      </p:sp>
      <p:sp>
        <p:nvSpPr>
          <p:cNvPr id="11" name="Text 9"/>
          <p:cNvSpPr/>
          <p:nvPr/>
        </p:nvSpPr>
        <p:spPr>
          <a:xfrm>
            <a:off x="812800" y="4318636"/>
            <a:ext cx="550579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Bloque de inicialización: se ejecuta una vez por sesión.</a:t>
            </a:r>
            <a:endParaRPr lang="en-US" sz="1400" dirty="0"/>
          </a:p>
        </p:txBody>
      </p:sp>
      <p:sp>
        <p:nvSpPr>
          <p:cNvPr id="12" name="Shape 10"/>
          <p:cNvSpPr/>
          <p:nvPr/>
        </p:nvSpPr>
        <p:spPr>
          <a:xfrm>
            <a:off x="812800" y="4681857"/>
            <a:ext cx="5345430" cy="1012190"/>
          </a:xfrm>
          <a:prstGeom prst="roundRect">
            <a:avLst>
              <a:gd name="adj" fmla="val 7528"/>
            </a:avLst>
          </a:prstGeom>
          <a:solidFill>
            <a:srgbClr val="FFFFFF"/>
          </a:solidFill>
          <a:ln/>
        </p:spPr>
      </p:sp>
      <p:sp>
        <p:nvSpPr>
          <p:cNvPr id="13" name="Shape 11"/>
          <p:cNvSpPr/>
          <p:nvPr/>
        </p:nvSpPr>
        <p:spPr>
          <a:xfrm>
            <a:off x="812800" y="4681857"/>
            <a:ext cx="5345430" cy="1012190"/>
          </a:xfrm>
          <a:custGeom>
            <a:avLst/>
            <a:gdLst/>
            <a:ahLst/>
            <a:cxnLst/>
            <a:rect l="l" t="t" r="r" b="b"/>
            <a:pathLst>
              <a:path w="5345430" h="1012190">
                <a:moveTo>
                  <a:pt x="76200" y="1012190"/>
                </a:moveTo>
                <a:lnTo>
                  <a:pt x="76200" y="1012190"/>
                </a:lnTo>
                <a:arcTo hR="76200" wR="76200" stAng="5400000" swAng="5400000"/>
                <a:lnTo>
                  <a:pt x="0" y="76200"/>
                </a:lnTo>
                <a:arcTo hR="76200" wR="76200" stAng="10800000" swAng="5400000"/>
                <a:lnTo>
                  <a:pt x="76200" y="0"/>
                </a:lnTo>
                <a:arcTo hR="76200" wR="25400" stAng="16200000" swAng="-5400000"/>
                <a:lnTo>
                  <a:pt x="50800" y="935990"/>
                </a:lnTo>
                <a:arcTo hR="76200" wR="25400" stAng="10800000" swAng="-5400000"/>
                <a:close/>
              </a:path>
            </a:pathLst>
          </a:custGeom>
          <a:solidFill>
            <a:srgbClr val="0F6E56"/>
          </a:solidFill>
          <a:ln/>
        </p:spPr>
      </p:sp>
      <p:sp>
        <p:nvSpPr>
          <p:cNvPr id="14" name="Text 12"/>
          <p:cNvSpPr/>
          <p:nvPr/>
        </p:nvSpPr>
        <p:spPr>
          <a:xfrm>
            <a:off x="1066800" y="4834257"/>
            <a:ext cx="50348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6E56"/>
                </a:solidFill>
                <a:latin typeface="Inter" pitchFamily="34" charset="0"/>
                <a:ea typeface="Inter" pitchFamily="34" charset="-122"/>
                <a:cs typeface="Inter" pitchFamily="34" charset="-120"/>
              </a:rPr>
              <a:t>¿Por qué?</a:t>
            </a:r>
            <a:endParaRPr lang="en-US" sz="1600" dirty="0"/>
          </a:p>
        </p:txBody>
      </p:sp>
      <p:sp>
        <p:nvSpPr>
          <p:cNvPr id="15" name="Text 13"/>
          <p:cNvSpPr/>
          <p:nvPr/>
        </p:nvSpPr>
        <p:spPr>
          <a:xfrm>
            <a:off x="1066800" y="5128896"/>
            <a:ext cx="5034877"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1B2A2F"/>
                </a:solidFill>
                <a:latin typeface="Inter" pitchFamily="34" charset="0"/>
                <a:ea typeface="Inter" pitchFamily="34" charset="-122"/>
                <a:cs typeface="Inter" pitchFamily="34" charset="-120"/>
              </a:rPr>
              <a:t>Agrupa la lógica en un solo objeto, oculta lo privado y un cambio de regla se hace en un solo lugar.</a:t>
            </a:r>
            <a:endParaRPr lang="en-US" sz="1300" dirty="0"/>
          </a:p>
        </p:txBody>
      </p:sp>
      <p:pic>
        <p:nvPicPr>
          <p:cNvPr id="16" name="Image 0" descr="Captura de Oracle SQL Developer">    </p:cNvPr>
          <p:cNvPicPr>
            <a:picLocks noChangeAspect="1"/>
          </p:cNvPicPr>
          <p:nvPr/>
        </p:nvPicPr>
        <p:blipFill>
          <a:blip r:embed="rId1"/>
          <a:srcRect l="0" r="0" t="29" b="29"/>
          <a:stretch/>
        </p:blipFill>
        <p:spPr>
          <a:xfrm>
            <a:off x="6475730" y="1973582"/>
            <a:ext cx="3530600" cy="2551906"/>
          </a:xfrm>
          <a:prstGeom prst="roundRect">
            <a:avLst>
              <a:gd name="adj" fmla="val 1493"/>
            </a:avLst>
          </a:prstGeom>
        </p:spPr>
      </p:pic>
      <p:sp>
        <p:nvSpPr>
          <p:cNvPr id="17" name="Shape 14"/>
          <p:cNvSpPr/>
          <p:nvPr/>
        </p:nvSpPr>
        <p:spPr>
          <a:xfrm>
            <a:off x="6469380" y="1967232"/>
            <a:ext cx="3543300" cy="2564606"/>
          </a:xfrm>
          <a:prstGeom prst="roundRect">
            <a:avLst>
              <a:gd name="adj" fmla="val 1733"/>
            </a:avLst>
          </a:prstGeom>
          <a:noFill/>
          <a:ln w="12700">
            <a:solidFill>
              <a:srgbClr val="BBBBBB"/>
            </a:solidFill>
            <a:prstDash val="solid"/>
          </a:ln>
        </p:spPr>
      </p:sp>
      <p:pic>
        <p:nvPicPr>
          <p:cNvPr id="18" name="Image 1" descr="Captura de Oracle SQL Developer">    </p:cNvPr>
          <p:cNvPicPr>
            <a:picLocks noChangeAspect="1"/>
          </p:cNvPicPr>
          <p:nvPr/>
        </p:nvPicPr>
        <p:blipFill>
          <a:blip r:embed="rId2"/>
          <a:srcRect l="0" r="0" t="201" b="201"/>
          <a:stretch/>
        </p:blipFill>
        <p:spPr>
          <a:xfrm>
            <a:off x="6475730" y="4652488"/>
            <a:ext cx="3530600" cy="932815"/>
          </a:xfrm>
          <a:prstGeom prst="roundRect">
            <a:avLst>
              <a:gd name="adj" fmla="val 4084"/>
            </a:avLst>
          </a:prstGeom>
        </p:spPr>
      </p:pic>
      <p:sp>
        <p:nvSpPr>
          <p:cNvPr id="19" name="Shape 15"/>
          <p:cNvSpPr/>
          <p:nvPr/>
        </p:nvSpPr>
        <p:spPr>
          <a:xfrm>
            <a:off x="6469380" y="4646138"/>
            <a:ext cx="3543300" cy="945515"/>
          </a:xfrm>
          <a:prstGeom prst="roundRect">
            <a:avLst>
              <a:gd name="adj" fmla="val 4701"/>
            </a:avLst>
          </a:prstGeom>
          <a:noFill/>
          <a:ln w="12700">
            <a:solidFill>
              <a:srgbClr val="BBBBBB"/>
            </a:solidFill>
            <a:prstDash val="solid"/>
          </a:ln>
        </p:spPr>
      </p:sp>
      <p:sp>
        <p:nvSpPr>
          <p:cNvPr id="20" name="Text 16"/>
          <p:cNvSpPr/>
          <p:nvPr/>
        </p:nvSpPr>
        <p:spPr>
          <a:xfrm>
            <a:off x="6463030" y="5598002"/>
            <a:ext cx="57289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Prueba: DESC solo muestra lo público; lo privado da error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Package: lo público y lo privado</a:t>
            </a:r>
            <a:endParaRPr lang="en-US" sz="3200" dirty="0"/>
          </a:p>
        </p:txBody>
      </p:sp>
      <p:sp>
        <p:nvSpPr>
          <p:cNvPr id="3" name="Text 1"/>
          <p:cNvSpPr/>
          <p:nvPr/>
        </p:nvSpPr>
        <p:spPr>
          <a:xfrm>
            <a:off x="812800" y="1463039"/>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6E56"/>
                </a:solidFill>
                <a:latin typeface="Inter" pitchFamily="34" charset="0"/>
                <a:ea typeface="Inter" pitchFamily="34" charset="-122"/>
                <a:cs typeface="Inter" pitchFamily="34" charset="-120"/>
              </a:rPr>
              <a:t>Especificación (público)</a:t>
            </a:r>
            <a:endParaRPr lang="en-US" sz="1500" dirty="0"/>
          </a:p>
        </p:txBody>
      </p:sp>
      <p:sp>
        <p:nvSpPr>
          <p:cNvPr id="4" name="Text 2"/>
          <p:cNvSpPr/>
          <p:nvPr/>
        </p:nvSpPr>
        <p:spPr>
          <a:xfrm>
            <a:off x="812800" y="1805939"/>
            <a:ext cx="5156200" cy="2473643"/>
          </a:xfrm>
          <a:prstGeom prst="roundRect">
            <a:avLst>
              <a:gd name="adj" fmla="val 3080"/>
            </a:avLst>
          </a:prstGeom>
          <a:solidFill>
            <a:srgbClr val="1B2A2F"/>
          </a:solidFill>
          <a:ln/>
        </p:spPr>
        <p:txBody>
          <a:bodyPr wrap="square" lIns="155482" tIns="130082" rIns="11464" bIns="104682" rtlCol="0" anchor="t">
            <a:normAutofit/>
          </a:bodyPr>
          <a:lstStyle/>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PACKAGE pkg_gestion_cnc 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 tipos VARRAY y RECORD</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PROCEDURE sp_registrar_uso_herramienta(</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p_np, p_id_herramienta, p_cantidad);</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PROCEDURE sp_buscar_trabajo(p_np);</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PROCEDURE sp_reporte_stock_critico;</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FUNCTION fn_stock_disponible(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p_id_herramienta) RETURN NUMBER;</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FUNCTION fn_total_herramientas_criticas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RETURN NUMBER;</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END pkg_gestion_cnc;</a:t>
            </a:r>
            <a:endParaRPr lang="en-US" sz="1150" dirty="0"/>
          </a:p>
        </p:txBody>
      </p:sp>
      <p:sp>
        <p:nvSpPr>
          <p:cNvPr id="5" name="Text 3"/>
          <p:cNvSpPr/>
          <p:nvPr/>
        </p:nvSpPr>
        <p:spPr>
          <a:xfrm>
            <a:off x="6223000" y="1463039"/>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6E56"/>
                </a:solidFill>
                <a:latin typeface="Inter" pitchFamily="34" charset="0"/>
                <a:ea typeface="Inter" pitchFamily="34" charset="-122"/>
                <a:cs typeface="Inter" pitchFamily="34" charset="-120"/>
              </a:rPr>
              <a:t>Cuerpo (privado e inicialización)</a:t>
            </a:r>
            <a:endParaRPr lang="en-US" sz="1500" dirty="0"/>
          </a:p>
        </p:txBody>
      </p:sp>
      <p:sp>
        <p:nvSpPr>
          <p:cNvPr id="6" name="Text 4"/>
          <p:cNvSpPr/>
          <p:nvPr/>
        </p:nvSpPr>
        <p:spPr>
          <a:xfrm>
            <a:off x="6223000" y="1805939"/>
            <a:ext cx="5156200" cy="2670810"/>
          </a:xfrm>
          <a:prstGeom prst="roundRect">
            <a:avLst>
              <a:gd name="adj" fmla="val 2853"/>
            </a:avLst>
          </a:prstGeom>
          <a:solidFill>
            <a:srgbClr val="1B2A2F"/>
          </a:solidFill>
          <a:ln/>
        </p:spPr>
        <p:txBody>
          <a:bodyPr wrap="square" lIns="155482" tIns="130082" rIns="11464" bIns="104682" rtlCol="0" anchor="t">
            <a:normAutofit/>
          </a:bodyPr>
          <a:lstStyle/>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PACKAGE BODY pkg_gestion_cnc 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 PRIVADO: solo existe en el cuerpo</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e_stock_insuficiente EXCEPTION;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g_fecha_carga DATE;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FUNCTION fn_existe_proyecto(</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p_np NUMBER) RETURN BOOLEAN IS ...</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PROCEDURE pr_linea IS ...</a:t>
            </a:r>
            <a:endParaRPr lang="en-US" sz="1150" dirty="0"/>
          </a:p>
          <a:p>
            <a:pPr algn="l" indent="0" marL="0">
              <a:lnSpc>
                <a:spcPts val="1553"/>
              </a:lnSpc>
              <a:buNone/>
            </a:pP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 implementación de lo público ...</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BEGIN  -- bloque de inicialización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g_fecha_carga := SYSDATE;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END pkg_gestion_cnc;</a:t>
            </a:r>
            <a:endParaRPr lang="en-US" sz="1150" dirty="0"/>
          </a:p>
        </p:txBody>
      </p:sp>
      <p:sp>
        <p:nvSpPr>
          <p:cNvPr id="7" name="Text 5"/>
          <p:cNvSpPr/>
          <p:nvPr/>
        </p:nvSpPr>
        <p:spPr>
          <a:xfrm>
            <a:off x="812800" y="46799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Código resumido; el completo está en el Anexo B del informe.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62994"/>
          </a:xfrm>
          <a:prstGeom prst="rect">
            <a:avLst/>
          </a:prstGeom>
          <a:noFill/>
          <a:ln/>
        </p:spPr>
        <p:txBody>
          <a:bodyPr wrap="square" lIns="0" tIns="0" rIns="0" bIns="0" rtlCol="0" anchor="t">
            <a:normAutofit/>
          </a:bodyPr>
          <a:lstStyle/>
          <a:p>
            <a:pPr algn="l" indent="0" marL="0">
              <a:lnSpc>
                <a:spcPts val="3465"/>
              </a:lnSpc>
              <a:buNone/>
            </a:pPr>
            <a:r>
              <a:rPr lang="en-US" sz="3150" b="1" i="0" dirty="0">
                <a:solidFill>
                  <a:srgbClr val="1B2A2F"/>
                </a:solidFill>
                <a:latin typeface="Inter" pitchFamily="34" charset="0"/>
                <a:ea typeface="Inter" pitchFamily="34" charset="-122"/>
                <a:cs typeface="Inter" pitchFamily="34" charset="-120"/>
              </a:rPr>
              <a:t>Triggers: automatizan stock, bitácora y alertas</a:t>
            </a:r>
            <a:endParaRPr lang="en-US" sz="3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463758"/>
          <a:ext cx="10556240" cy="2076291"/>
        </p:xfrm>
        <a:graphic>
          <a:graphicData uri="http://schemas.openxmlformats.org/drawingml/2006/table">
            <a:tbl>
              <a:tblPr/>
              <a:tblGrid>
                <a:gridCol w="2322373"/>
                <a:gridCol w="1161186"/>
                <a:gridCol w="3061310"/>
                <a:gridCol w="4011371"/>
              </a:tblGrid>
              <a:tr h="350282">
                <a:tc>
                  <a:txBody>
                    <a:bodyPr/>
                    <a:lstStyle/>
                    <a:p>
                      <a:pPr indent="0" marL="0">
                        <a:lnSpc>
                          <a:spcPts val="1786"/>
                        </a:lnSpc>
                        <a:buNone/>
                      </a:pPr>
                      <a:r>
                        <a:rPr lang="en-US" sz="1276" b="1" dirty="0">
                          <a:solidFill>
                            <a:srgbClr val="1B2A2F"/>
                          </a:solidFill>
                          <a:latin typeface="Inter" pitchFamily="34" charset="0"/>
                          <a:ea typeface="Inter" pitchFamily="34" charset="-122"/>
                          <a:cs typeface="Inter" pitchFamily="34" charset="-120"/>
                        </a:rPr>
                        <a:t>Trigger</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786"/>
                        </a:lnSpc>
                        <a:buNone/>
                      </a:pPr>
                      <a:r>
                        <a:rPr lang="en-US" sz="1276" b="1" dirty="0">
                          <a:solidFill>
                            <a:srgbClr val="1B2A2F"/>
                          </a:solidFill>
                          <a:latin typeface="Inter" pitchFamily="34" charset="0"/>
                          <a:ea typeface="Inter" pitchFamily="34" charset="-122"/>
                          <a:cs typeface="Inter" pitchFamily="34" charset="-120"/>
                        </a:rPr>
                        <a:t>Nivel</a:t>
                      </a:r>
                      <a:endParaRPr lang="en-US" sz="1276" dirty="0">
                        <a:latin typeface="Inter" charset="0"/>
                        <a:ea typeface="Inter" charset="0"/>
                        <a:cs typeface="Inter" charset="0"/>
                      </a:endParaRPr>
                    </a:p>
                  </a:txBody>
                  <a:tcPr marL="56702" marR="56702" marT="56702" marB="56702"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786"/>
                        </a:lnSpc>
                        <a:buNone/>
                      </a:pPr>
                      <a:r>
                        <a:rPr lang="en-US" sz="1276" b="1" dirty="0">
                          <a:solidFill>
                            <a:srgbClr val="1B2A2F"/>
                          </a:solidFill>
                          <a:latin typeface="Inter" pitchFamily="34" charset="0"/>
                          <a:ea typeface="Inter" pitchFamily="34" charset="-122"/>
                          <a:cs typeface="Inter" pitchFamily="34" charset="-120"/>
                        </a:rPr>
                        <a:t>Qué hace</a:t>
                      </a:r>
                      <a:endParaRPr lang="en-US" sz="1276" dirty="0">
                        <a:latin typeface="Inter" charset="0"/>
                        <a:ea typeface="Inter" charset="0"/>
                        <a:cs typeface="Inter" charset="0"/>
                      </a:endParaRPr>
                    </a:p>
                  </a:txBody>
                  <a:tcPr marL="56702" marR="56702" marT="56702" marB="56702"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indent="0" marL="0">
                        <a:lnSpc>
                          <a:spcPts val="1786"/>
                        </a:lnSpc>
                        <a:buNone/>
                      </a:pPr>
                      <a:r>
                        <a:rPr lang="en-US" sz="1276" b="1" dirty="0">
                          <a:solidFill>
                            <a:srgbClr val="1B2A2F"/>
                          </a:solidFill>
                          <a:latin typeface="Inter" pitchFamily="34" charset="0"/>
                          <a:ea typeface="Inter" pitchFamily="34" charset="-122"/>
                          <a:cs typeface="Inter" pitchFamily="34" charset="-120"/>
                        </a:rPr>
                        <a:t>Ejemplo</a:t>
                      </a:r>
                      <a:endParaRPr lang="en-US" sz="1276" dirty="0">
                        <a:latin typeface="Inter" charset="0"/>
                        <a:ea typeface="Inter" charset="0"/>
                        <a:cs typeface="Inter" charset="0"/>
                      </a:endParaRPr>
                    </a:p>
                  </a:txBody>
                  <a:tcPr marL="56702" marR="56702" marT="56702" marB="56702" anchor="t">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r>
              <a:tr h="575310">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trg_actualizar_stock</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Fila</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Descuenta el stock por cada uso registrado</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Ejemplo: se usa 1 fresa de 10 mm y su stock baja de 17 a 16.</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75310">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trg_log_uso_sentencia</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Sentencia</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Una fila de bitácora por sentencia, sin importar cuántas filas afecte</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Ejemplo: un INSERT de 2 filas descuenta 2 herramientas, pero deja 1 sola fila en la bitácora.</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r h="575389">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trg_alerta_stock_minimo</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Fila (WHEN)</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Alerta si el stock queda en o bajo el mínimo</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indent="0" marL="0">
                        <a:lnSpc>
                          <a:spcPts val="1786"/>
                        </a:lnSpc>
                        <a:buNone/>
                      </a:pPr>
                      <a:r>
                        <a:rPr lang="en-US" sz="1276" dirty="0">
                          <a:solidFill>
                            <a:srgbClr val="1B2A2F"/>
                          </a:solidFill>
                          <a:latin typeface="Inter" pitchFamily="34" charset="0"/>
                          <a:ea typeface="Inter" pitchFamily="34" charset="-122"/>
                          <a:cs typeface="Inter" pitchFamily="34" charset="-120"/>
                        </a:rPr>
                        <a:t>Ejemplo: el inserto CNMG baja de 12 a 2 (mínimo 3) y se crea una alerta.</a:t>
                      </a:r>
                      <a:endParaRPr lang="en-US" sz="1276" dirty="0">
                        <a:latin typeface="Inter" charset="0"/>
                        <a:ea typeface="Inter" charset="0"/>
                        <a:cs typeface="Inter" charset="0"/>
                      </a:endParaRPr>
                    </a:p>
                  </a:txBody>
                  <a:tcPr marL="56702" marR="56702" marT="56702" marB="56702" anchor="t">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r>
            </a:tbl>
          </a:graphicData>
        </a:graphic>
      </p:graphicFrame>
      <p:sp>
        <p:nvSpPr>
          <p:cNvPr id="4" name="Shape 1"/>
          <p:cNvSpPr/>
          <p:nvPr/>
        </p:nvSpPr>
        <p:spPr>
          <a:xfrm>
            <a:off x="812800" y="3743244"/>
            <a:ext cx="10566400" cy="758269"/>
          </a:xfrm>
          <a:prstGeom prst="roundRect">
            <a:avLst>
              <a:gd name="adj" fmla="val 10049"/>
            </a:avLst>
          </a:prstGeom>
          <a:solidFill>
            <a:srgbClr val="FFFFFF"/>
          </a:solidFill>
          <a:ln/>
        </p:spPr>
      </p:sp>
      <p:sp>
        <p:nvSpPr>
          <p:cNvPr id="5" name="Shape 2"/>
          <p:cNvSpPr/>
          <p:nvPr/>
        </p:nvSpPr>
        <p:spPr>
          <a:xfrm>
            <a:off x="812800" y="3743244"/>
            <a:ext cx="10566400" cy="758269"/>
          </a:xfrm>
          <a:custGeom>
            <a:avLst/>
            <a:gdLst/>
            <a:ahLst/>
            <a:cxnLst/>
            <a:rect l="l" t="t" r="r" b="b"/>
            <a:pathLst>
              <a:path w="10566400" h="758269">
                <a:moveTo>
                  <a:pt x="76200" y="758269"/>
                </a:moveTo>
                <a:lnTo>
                  <a:pt x="76200" y="758269"/>
                </a:lnTo>
                <a:arcTo hR="76200" wR="76200" stAng="5400000" swAng="5400000"/>
                <a:lnTo>
                  <a:pt x="0" y="76200"/>
                </a:lnTo>
                <a:arcTo hR="76200" wR="76200" stAng="10800000" swAng="5400000"/>
                <a:lnTo>
                  <a:pt x="76200" y="0"/>
                </a:lnTo>
                <a:arcTo hR="76200" wR="25400" stAng="16200000" swAng="-5400000"/>
                <a:lnTo>
                  <a:pt x="50800" y="682069"/>
                </a:lnTo>
                <a:arcTo hR="76200" wR="25400" stAng="10800000" swAng="-5400000"/>
                <a:close/>
              </a:path>
            </a:pathLst>
          </a:custGeom>
          <a:solidFill>
            <a:srgbClr val="0F6E56"/>
          </a:solidFill>
          <a:ln/>
        </p:spPr>
      </p:sp>
      <p:sp>
        <p:nvSpPr>
          <p:cNvPr id="6" name="Text 3"/>
          <p:cNvSpPr/>
          <p:nvPr/>
        </p:nvSpPr>
        <p:spPr>
          <a:xfrm>
            <a:off x="1041400" y="3857544"/>
            <a:ext cx="10464800" cy="278448"/>
          </a:xfrm>
          <a:prstGeom prst="rect">
            <a:avLst/>
          </a:prstGeom>
          <a:noFill/>
          <a:ln/>
        </p:spPr>
        <p:txBody>
          <a:bodyPr wrap="square" lIns="0" tIns="0" rIns="0" bIns="0" rtlCol="0" anchor="t">
            <a:normAutofit/>
          </a:bodyPr>
          <a:lstStyle/>
          <a:p>
            <a:pPr algn="l" indent="0" marL="0">
              <a:lnSpc>
                <a:spcPts val="2021"/>
              </a:lnSpc>
              <a:buNone/>
            </a:pPr>
            <a:r>
              <a:rPr lang="en-US" sz="1684" b="1" dirty="0">
                <a:solidFill>
                  <a:srgbClr val="0F6E56"/>
                </a:solidFill>
                <a:latin typeface="Inter" pitchFamily="34" charset="0"/>
                <a:ea typeface="Inter" pitchFamily="34" charset="-122"/>
                <a:cs typeface="Inter" pitchFamily="34" charset="-120"/>
              </a:rPr>
              <a:t>¿Por qué un trigger?</a:t>
            </a:r>
            <a:endParaRPr lang="en-US" sz="1684" dirty="0"/>
          </a:p>
        </p:txBody>
      </p:sp>
      <p:sp>
        <p:nvSpPr>
          <p:cNvPr id="7" name="Text 4"/>
          <p:cNvSpPr/>
          <p:nvPr/>
        </p:nvSpPr>
        <p:spPr>
          <a:xfrm>
            <a:off x="1041400" y="4161396"/>
            <a:ext cx="10464800" cy="251222"/>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B2A2F"/>
                </a:solidFill>
                <a:latin typeface="Inter" pitchFamily="34" charset="0"/>
                <a:ea typeface="Inter" pitchFamily="34" charset="-122"/>
                <a:cs typeface="Inter" pitchFamily="34" charset="-120"/>
              </a:rPr>
              <a:t>Se ejecuta siempre, incluso con un INSERT directo: el stock y la bitácora no dependen de que alguien se acuerde.</a:t>
            </a:r>
            <a:endParaRPr lang="en-US" sz="1400" dirty="0"/>
          </a:p>
        </p:txBody>
      </p:sp>
      <p:pic>
        <p:nvPicPr>
          <p:cNvPr id="8" name="Image 0" descr="Captura de Oracle SQL Developer">    </p:cNvPr>
          <p:cNvPicPr>
            <a:picLocks noChangeAspect="1"/>
          </p:cNvPicPr>
          <p:nvPr/>
        </p:nvPicPr>
        <p:blipFill>
          <a:blip r:embed="rId1"/>
          <a:srcRect l="0" r="0" t="51" b="51"/>
          <a:stretch/>
        </p:blipFill>
        <p:spPr>
          <a:xfrm>
            <a:off x="825500" y="4717417"/>
            <a:ext cx="1816100" cy="1343898"/>
          </a:xfrm>
          <a:prstGeom prst="roundRect">
            <a:avLst>
              <a:gd name="adj" fmla="val 2835"/>
            </a:avLst>
          </a:prstGeom>
        </p:spPr>
      </p:pic>
      <p:sp>
        <p:nvSpPr>
          <p:cNvPr id="9" name="Shape 5"/>
          <p:cNvSpPr/>
          <p:nvPr/>
        </p:nvSpPr>
        <p:spPr>
          <a:xfrm>
            <a:off x="819150" y="4711067"/>
            <a:ext cx="1828800" cy="1356598"/>
          </a:xfrm>
          <a:prstGeom prst="roundRect">
            <a:avLst>
              <a:gd name="adj" fmla="val 3277"/>
            </a:avLst>
          </a:prstGeom>
          <a:noFill/>
          <a:ln w="12700">
            <a:solidFill>
              <a:srgbClr val="BBBBBB"/>
            </a:solidFill>
            <a:prstDash val="solid"/>
          </a:ln>
        </p:spPr>
      </p:sp>
      <p:pic>
        <p:nvPicPr>
          <p:cNvPr id="10" name="Image 1" descr="Captura de Oracle SQL Developer">    </p:cNvPr>
          <p:cNvPicPr>
            <a:picLocks noChangeAspect="1"/>
          </p:cNvPicPr>
          <p:nvPr/>
        </p:nvPicPr>
        <p:blipFill>
          <a:blip r:embed="rId2"/>
          <a:srcRect l="0" r="0" t="97" b="97"/>
          <a:stretch/>
        </p:blipFill>
        <p:spPr>
          <a:xfrm>
            <a:off x="2921000" y="4717417"/>
            <a:ext cx="2514600" cy="1293336"/>
          </a:xfrm>
          <a:prstGeom prst="roundRect">
            <a:avLst>
              <a:gd name="adj" fmla="val 2946"/>
            </a:avLst>
          </a:prstGeom>
        </p:spPr>
      </p:pic>
      <p:sp>
        <p:nvSpPr>
          <p:cNvPr id="11" name="Shape 6"/>
          <p:cNvSpPr/>
          <p:nvPr/>
        </p:nvSpPr>
        <p:spPr>
          <a:xfrm>
            <a:off x="2914650" y="4711067"/>
            <a:ext cx="2527300" cy="1306036"/>
          </a:xfrm>
          <a:prstGeom prst="roundRect">
            <a:avLst>
              <a:gd name="adj" fmla="val 3403"/>
            </a:avLst>
          </a:prstGeom>
          <a:noFill/>
          <a:ln w="12700">
            <a:solidFill>
              <a:srgbClr val="BBBBBB"/>
            </a:solidFill>
            <a:prstDash val="solid"/>
          </a:ln>
        </p:spPr>
      </p:sp>
      <p:sp>
        <p:nvSpPr>
          <p:cNvPr id="12" name="Text 7"/>
          <p:cNvSpPr/>
          <p:nvPr/>
        </p:nvSpPr>
        <p:spPr>
          <a:xfrm>
            <a:off x="5702300" y="4704717"/>
            <a:ext cx="5847207"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4A5A5F"/>
                </a:solidFill>
                <a:latin typeface="Inter" pitchFamily="34" charset="0"/>
                <a:ea typeface="Inter" pitchFamily="34" charset="-122"/>
                <a:cs typeface="Inter" pitchFamily="34" charset="-120"/>
              </a:rPr>
              <a:t>Prueba: un INSERT de 2 filas baja el stock de ambas herramientas y la bitácora suma una sola fila.</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B2A2F"/>
                </a:solidFill>
                <a:latin typeface="Inter" pitchFamily="34" charset="0"/>
                <a:ea typeface="Inter" pitchFamily="34" charset="-122"/>
                <a:cs typeface="Inter" pitchFamily="34" charset="-120"/>
              </a:rPr>
              <a:t>Triggers: de fila y de sentencia</a:t>
            </a:r>
            <a:endParaRPr lang="en-US" sz="3200" dirty="0"/>
          </a:p>
        </p:txBody>
      </p:sp>
      <p:sp>
        <p:nvSpPr>
          <p:cNvPr id="3" name="Text 1"/>
          <p:cNvSpPr/>
          <p:nvPr/>
        </p:nvSpPr>
        <p:spPr>
          <a:xfrm>
            <a:off x="812800" y="1463042"/>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6E56"/>
                </a:solidFill>
                <a:latin typeface="Inter" pitchFamily="34" charset="0"/>
                <a:ea typeface="Inter" pitchFamily="34" charset="-122"/>
                <a:cs typeface="Inter" pitchFamily="34" charset="-120"/>
              </a:rPr>
              <a:t>Trigger de fila (FOR EACH ROW)</a:t>
            </a:r>
            <a:endParaRPr lang="en-US" sz="1500" dirty="0"/>
          </a:p>
        </p:txBody>
      </p:sp>
      <p:sp>
        <p:nvSpPr>
          <p:cNvPr id="4" name="Text 2"/>
          <p:cNvSpPr/>
          <p:nvPr/>
        </p:nvSpPr>
        <p:spPr>
          <a:xfrm>
            <a:off x="812800" y="1805942"/>
            <a:ext cx="5156200" cy="2473643"/>
          </a:xfrm>
          <a:prstGeom prst="roundRect">
            <a:avLst>
              <a:gd name="adj" fmla="val 3080"/>
            </a:avLst>
          </a:prstGeom>
          <a:solidFill>
            <a:srgbClr val="1B2A2F"/>
          </a:solidFill>
          <a:ln/>
        </p:spPr>
        <p:txBody>
          <a:bodyPr wrap="square" lIns="155482" tIns="130082" rIns="11464" bIns="104682" rtlCol="0" anchor="t">
            <a:normAutofit/>
          </a:bodyPr>
          <a:lstStyle/>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CREATE OR REPLACE TRIGGER trg_actualizar_stock</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AFTER INSERT ON uso_herramienta</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FOR EACH ROW</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BEGIN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UPDATE herramientas</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SET stock_actual = stock_actual</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 :NEW.cantidad,</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vida_util_usada = vida_util_usada</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 :NEW.cantidad</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WHERE id_herramienta = :NEW.id_herramienta;</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END;</a:t>
            </a:r>
            <a:endParaRPr lang="en-US" sz="1150" dirty="0"/>
          </a:p>
        </p:txBody>
      </p:sp>
      <p:sp>
        <p:nvSpPr>
          <p:cNvPr id="5" name="Text 3"/>
          <p:cNvSpPr/>
          <p:nvPr/>
        </p:nvSpPr>
        <p:spPr>
          <a:xfrm>
            <a:off x="6223000" y="1463042"/>
            <a:ext cx="53108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6E56"/>
                </a:solidFill>
                <a:latin typeface="Inter" pitchFamily="34" charset="0"/>
                <a:ea typeface="Inter" pitchFamily="34" charset="-122"/>
                <a:cs typeface="Inter" pitchFamily="34" charset="-120"/>
              </a:rPr>
              <a:t>Trigger de sentencia (sin FOR EACH ROW)</a:t>
            </a:r>
            <a:endParaRPr lang="en-US" sz="1500" dirty="0"/>
          </a:p>
        </p:txBody>
      </p:sp>
      <p:sp>
        <p:nvSpPr>
          <p:cNvPr id="6" name="Text 4"/>
          <p:cNvSpPr/>
          <p:nvPr/>
        </p:nvSpPr>
        <p:spPr>
          <a:xfrm>
            <a:off x="6223000" y="1805942"/>
            <a:ext cx="5156200" cy="3065145"/>
          </a:xfrm>
          <a:prstGeom prst="roundRect">
            <a:avLst>
              <a:gd name="adj" fmla="val 2486"/>
            </a:avLst>
          </a:prstGeom>
          <a:solidFill>
            <a:srgbClr val="1B2A2F"/>
          </a:solidFill>
          <a:ln/>
        </p:spPr>
        <p:txBody>
          <a:bodyPr wrap="square" lIns="155482" tIns="130082" rIns="11464" bIns="104682" rtlCol="0" anchor="t">
            <a:normAutofit/>
          </a:bodyPr>
          <a:lstStyle/>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CREATE OR REPLACE TRIGGER trg_log_uso_sentencia</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AFTER INSERT OR UPDATE OR DELETE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ON uso_herramienta</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DECLARE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v_accion VARCHAR2(10);</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BEGIN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IF INSERTING THEN v_accion := 'INSERT';</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ELSIF UPDATING THEN v_accion := 'UPDATE';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ELSE v_accion := 'DELETE';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END IF;</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INSERT INTO log_uso_herramienta (...)</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VALUES (seq_log_uso.NEXTVAL, SYSDATE,</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          USER, v_accion);</a:t>
            </a:r>
            <a:endParaRPr lang="en-US" sz="1150" dirty="0"/>
          </a:p>
          <a:p>
            <a:pPr algn="l" indent="0" marL="0">
              <a:lnSpc>
                <a:spcPts val="1553"/>
              </a:lnSpc>
              <a:buNone/>
            </a:pPr>
            <a:r>
              <a:rPr lang="en-US" sz="1150" dirty="0">
                <a:solidFill>
                  <a:srgbClr val="E8EFE9"/>
                </a:solidFill>
                <a:latin typeface="Consolas" pitchFamily="49" charset="0"/>
                <a:ea typeface="Consolas" pitchFamily="49" charset="-122"/>
                <a:cs typeface="Consolas" pitchFamily="49" charset="-120"/>
              </a:rPr>
              <a:t>END;</a:t>
            </a:r>
            <a:endParaRPr lang="en-US" sz="1150" dirty="0"/>
          </a:p>
        </p:txBody>
      </p:sp>
      <p:sp>
        <p:nvSpPr>
          <p:cNvPr id="7" name="Text 5"/>
          <p:cNvSpPr/>
          <p:nvPr/>
        </p:nvSpPr>
        <p:spPr>
          <a:xfrm>
            <a:off x="812800" y="507428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A5F"/>
                </a:solidFill>
                <a:latin typeface="Inter" pitchFamily="34" charset="0"/>
                <a:ea typeface="Inter" pitchFamily="34" charset="-122"/>
                <a:cs typeface="Inter" pitchFamily="34" charset="-120"/>
              </a:rPr>
              <a:t>Fila: corre una vez por cada fila. Sentencia: corre una sola vez por sentencia.</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2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3EE"/>
                </a:solidFill>
                <a:latin typeface="Inter" pitchFamily="34" charset="0"/>
                <a:ea typeface="Inter" pitchFamily="34" charset="-122"/>
                <a:cs typeface="Inter" pitchFamily="34" charset="-120"/>
              </a:rPr>
              <a:t>Conclusión</a:t>
            </a:r>
            <a:endParaRPr lang="en-US" sz="3200" dirty="0"/>
          </a:p>
        </p:txBody>
      </p:sp>
      <p:sp>
        <p:nvSpPr>
          <p:cNvPr id="3" name="Text 1"/>
          <p:cNvSpPr/>
          <p:nvPr/>
        </p:nvSpPr>
        <p:spPr>
          <a:xfrm>
            <a:off x="812800" y="1564642"/>
            <a:ext cx="10883392"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5DCAA5"/>
                </a:solidFill>
                <a:latin typeface="Inter" pitchFamily="34" charset="0"/>
                <a:ea typeface="Inter" pitchFamily="34" charset="-122"/>
                <a:cs typeface="Inter" pitchFamily="34" charset="-120"/>
              </a:rPr>
              <a:t>Consulta inmediata:</a:t>
            </a:r>
            <a:r>
              <a:rPr lang="en-US" sz="1900" dirty="0">
                <a:solidFill>
                  <a:srgbClr val="F5F3EE"/>
                </a:solidFill>
                <a:latin typeface="Inter" pitchFamily="34" charset="0"/>
                <a:ea typeface="Inter" pitchFamily="34" charset="-122"/>
                <a:cs typeface="Inter" pitchFamily="34" charset="-120"/>
              </a:rPr>
              <a:t> plano y herramientas de cualquier trabajo a partir de su NP.</a:t>
            </a:r>
            <a:endParaRPr lang="en-US" sz="1900" dirty="0"/>
          </a:p>
        </p:txBody>
      </p:sp>
      <p:sp>
        <p:nvSpPr>
          <p:cNvPr id="4" name="Text 2"/>
          <p:cNvSpPr/>
          <p:nvPr/>
        </p:nvSpPr>
        <p:spPr>
          <a:xfrm>
            <a:off x="812800" y="2044067"/>
            <a:ext cx="10883392"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5DCAA5"/>
                </a:solidFill>
                <a:latin typeface="Inter" pitchFamily="34" charset="0"/>
                <a:ea typeface="Inter" pitchFamily="34" charset="-122"/>
                <a:cs typeface="Inter" pitchFamily="34" charset="-120"/>
              </a:rPr>
              <a:t>Stock confiable:</a:t>
            </a:r>
            <a:r>
              <a:rPr lang="en-US" sz="1900" dirty="0">
                <a:solidFill>
                  <a:srgbClr val="F5F3EE"/>
                </a:solidFill>
                <a:latin typeface="Inter" pitchFamily="34" charset="0"/>
                <a:ea typeface="Inter" pitchFamily="34" charset="-122"/>
                <a:cs typeface="Inter" pitchFamily="34" charset="-120"/>
              </a:rPr>
              <a:t> se actualiza solo, deja bitácora y avisa cuando baja del mínimo.</a:t>
            </a:r>
            <a:endParaRPr lang="en-US" sz="1900" dirty="0"/>
          </a:p>
        </p:txBody>
      </p:sp>
      <p:sp>
        <p:nvSpPr>
          <p:cNvPr id="5" name="Text 3"/>
          <p:cNvSpPr/>
          <p:nvPr/>
        </p:nvSpPr>
        <p:spPr>
          <a:xfrm>
            <a:off x="812800" y="2523492"/>
            <a:ext cx="10883392" cy="327025"/>
          </a:xfrm>
          <a:prstGeom prst="rect">
            <a:avLst/>
          </a:prstGeom>
          <a:noFill/>
          <a:ln/>
        </p:spPr>
        <p:txBody>
          <a:bodyPr wrap="square" lIns="0" tIns="0" rIns="0" bIns="0" rtlCol="0" anchor="t">
            <a:normAutofit/>
          </a:bodyPr>
          <a:lstStyle/>
          <a:p>
            <a:pPr algn="l" indent="0" marL="0">
              <a:lnSpc>
                <a:spcPts val="2375"/>
              </a:lnSpc>
              <a:buNone/>
            </a:pPr>
            <a:r>
              <a:rPr lang="en-US" sz="1900" b="1" dirty="0">
                <a:solidFill>
                  <a:srgbClr val="5DCAA5"/>
                </a:solidFill>
                <a:latin typeface="Inter" pitchFamily="34" charset="0"/>
                <a:ea typeface="Inter" pitchFamily="34" charset="-122"/>
                <a:cs typeface="Inter" pitchFamily="34" charset="-120"/>
              </a:rPr>
              <a:t>Código ordenado:</a:t>
            </a:r>
            <a:r>
              <a:rPr lang="en-US" sz="1900" dirty="0">
                <a:solidFill>
                  <a:srgbClr val="F5F3EE"/>
                </a:solidFill>
                <a:latin typeface="Inter" pitchFamily="34" charset="0"/>
                <a:ea typeface="Inter" pitchFamily="34" charset="-122"/>
                <a:cs typeface="Inter" pitchFamily="34" charset="-120"/>
              </a:rPr>
              <a:t> la lógica vive en un package y cada cambio se hace en un solo lugar.</a:t>
            </a:r>
            <a:endParaRPr lang="en-US" sz="1900" dirty="0"/>
          </a:p>
        </p:txBody>
      </p:sp>
      <p:sp>
        <p:nvSpPr>
          <p:cNvPr id="6" name="Text 4"/>
          <p:cNvSpPr/>
          <p:nvPr/>
        </p:nvSpPr>
        <p:spPr>
          <a:xfrm>
            <a:off x="812800" y="312991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2D0"/>
                </a:solidFill>
                <a:latin typeface="Inter" pitchFamily="34" charset="0"/>
                <a:ea typeface="Inter" pitchFamily="34" charset="-122"/>
                <a:cs typeface="Inter" pitchFamily="34" charset="-120"/>
              </a:rPr>
              <a:t>Próximos pasos: control de vida útil de herramientas y tiempos de mecanizado.</a:t>
            </a:r>
            <a:endParaRPr lang="en-US" sz="1500" dirty="0"/>
          </a:p>
        </p:txBody>
      </p:sp>
    </p:spTree>
  </p:cSld>
  <p:clrMapOvr>
    <a:masterClrMapping/>
  </p:clrMapOvr>
</p:sld>
</file>

<file path=ppt/theme/theme1.xml><?xml version="1.0" encoding="utf-8"?>
<a:theme xmlns:a="http://schemas.openxmlformats.org/drawingml/2006/main" name="Presentación Parcial 2 – PL/SQL en sistema CNC">
  <a:themeElements>
    <a:clrScheme name="Presentación Parcial 2 – PL/SQL en sistema CNC">
      <a:dk1>
        <a:srgbClr val="1B2A2F"/>
      </a:dk1>
      <a:lt1>
        <a:srgbClr val="F5F3EE"/>
      </a:lt1>
      <a:dk2>
        <a:srgbClr val="525C5F"/>
      </a:dk2>
      <a:lt2>
        <a:srgbClr val="DFDFDB"/>
      </a:lt2>
      <a:accent1>
        <a:srgbClr val="0F6E56"/>
      </a:accent1>
      <a:accent2>
        <a:srgbClr val="B8481A"/>
      </a:accent2>
      <a:accent3>
        <a:srgbClr val="5DCAA5"/>
      </a:accent3>
      <a:accent4>
        <a:srgbClr val="4A5A5F"/>
      </a:accent4>
      <a:accent5>
        <a:srgbClr val="C9D2D0"/>
      </a:accent5>
      <a:accent6>
        <a:srgbClr val="9AA0A6"/>
      </a:accent6>
      <a:hlink>
        <a:srgbClr val="0563C1"/>
      </a:hlink>
      <a:folHlink>
        <a:srgbClr val="954F72"/>
      </a:folHlink>
    </a:clrScheme>
    <a:fontScheme name="Presentación Parcial 2 – PL/SQL en sistema CNC">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Parcial 2 – PL/SQL en sistema CNC</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2026-10-22T23:08:28Z</dcterms:created>
  <dcterms:modified xsi:type="dcterms:W3CDTF">2026-10-22T23:08:28Z</dcterms:modified>
</cp:coreProperties>
</file>